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"/>
          <p:cNvSpPr txBox="1"/>
          <p:nvPr/>
        </p:nvSpPr>
        <p:spPr>
          <a:xfrm>
            <a:off x="720000" y="1900000"/>
            <a:ext cx="10752000" cy="1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4400" b="1" dirty="0">
                <a:solidFill>
                  <a:srgbClr val="FFFFFF"/>
                </a:solidFill>
                <a:latin typeface="Segoe UI"/>
                <a:ea typeface="微软雅黑"/>
              </a:rPr>
              <a:t>AI 海啸来了，我们在造一条船</a:t>
            </a:r>
          </a:p>
        </p:txBody>
      </p:sp>
      <p:sp>
        <p:nvSpPr>
          <p:cNvPr id="4" name="s"/>
          <p:cNvSpPr txBox="1"/>
          <p:nvPr/>
        </p:nvSpPr>
        <p:spPr>
          <a:xfrm>
            <a:off x="720000" y="3500000"/>
            <a:ext cx="10752000" cy="16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260"/>
              </a:spcBef>
              <a:buNone/>
            </a:pPr>
            <a:r>
              <a:rPr lang="zh-CN" altLang="en-US" sz="1900" dirty="0">
                <a:solidFill>
                  <a:srgbClr val="E8F0FE"/>
                </a:solidFill>
                <a:latin typeface="Segoe UI"/>
                <a:ea typeface="微软雅黑"/>
              </a:rPr>
              <a:t>人工智能专业人才培养改革试点 · 院长实验班建设情况汇报</a:t>
            </a:r>
          </a:p>
          <a:p>
            <a:pPr lvl="0" marL="0" indent="0" algn="l">
              <a:lnSpc>
                <a:spcPct val="118000"/>
              </a:lnSpc>
              <a:spcBef>
                <a:spcPts val="260"/>
              </a:spcBef>
              <a:buNone/>
            </a:pPr>
            <a:r>
              <a:rPr lang="zh-CN" altLang="en-US" sz="1900" dirty="0">
                <a:solidFill>
                  <a:srgbClr val="E8F0FE"/>
                </a:solidFill>
                <a:latin typeface="Segoe UI"/>
                <a:ea typeface="微软雅黑"/>
              </a:rPr>
              <a:t/>
            </a:r>
          </a:p>
          <a:p>
            <a:pPr lvl="0" marL="0" indent="0" algn="l">
              <a:lnSpc>
                <a:spcPct val="118000"/>
              </a:lnSpc>
              <a:spcBef>
                <a:spcPts val="260"/>
              </a:spcBef>
              <a:buNone/>
            </a:pPr>
            <a:r>
              <a:rPr lang="zh-CN" altLang="en-US" sz="1900" dirty="0">
                <a:solidFill>
                  <a:srgbClr val="E8F0FE"/>
                </a:solidFill>
                <a:latin typeface="Segoe UI"/>
                <a:ea typeface="微软雅黑"/>
              </a:rPr>
              <a:t>汇报时长：15 分钟 ｜ 汇报人：郑积仕</a:t>
            </a:r>
          </a:p>
        </p:txBody>
      </p:sp>
      <p:sp>
        <p:nvSpPr>
          <p:cNvPr id="5" name="f"/>
          <p:cNvSpPr txBox="1"/>
          <p:nvPr/>
        </p:nvSpPr>
        <p:spPr>
          <a:xfrm>
            <a:off x="720000" y="5958000"/>
            <a:ext cx="10752000" cy="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C7DAF7"/>
                </a:solidFill>
                <a:latin typeface="Segoe UI"/>
                <a:ea typeface="微软雅黑"/>
              </a:rPr>
              <a:t>人工智能与交通工程学院 · 全院教师会 · 2026 年 9 月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今天讲三件事</a:t>
            </a:r>
          </a:p>
        </p:txBody>
      </p:sp>
      <p:sp>
        <p:nvSpPr>
          <p:cNvPr id="4" name="sub"/>
          <p:cNvSpPr txBox="1"/>
          <p:nvPr/>
        </p:nvSpPr>
        <p:spPr>
          <a:xfrm>
            <a:off x="940000" y="1180000"/>
            <a:ext cx="10752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280"/>
                </a:solidFill>
                <a:latin typeface="Segoe UI"/>
                <a:ea typeface="微软雅黑"/>
              </a:rPr>
              <a:t>前两件是交代，第三件才是我今天来的目的</a:t>
            </a:r>
          </a:p>
        </p:txBody>
      </p:sp>
      <p:sp>
        <p:nvSpPr>
          <p:cNvPr id="10" name="r10"/>
          <p:cNvSpPr/>
          <p:nvPr/>
        </p:nvSpPr>
        <p:spPr>
          <a:xfrm>
            <a:off x="720000" y="1700000"/>
            <a:ext cx="3410666" cy="1950000"/>
          </a:xfrm>
          <a:prstGeom prst="roundRect">
            <a:avLst>
              <a:gd name="adj" fmla="val 6000"/>
            </a:avLst>
          </a:prstGeom>
          <a:solidFill>
            <a:srgbClr val="CF222E">
              <a:alpha val="9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c0"/>
          <p:cNvSpPr txBox="1"/>
          <p:nvPr/>
        </p:nvSpPr>
        <p:spPr>
          <a:xfrm>
            <a:off x="920000" y="1850000"/>
            <a:ext cx="3010666" cy="19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b="1" dirty="0">
                <a:solidFill>
                  <a:srgbClr val="CF222E"/>
                </a:solidFill>
                <a:latin typeface="Segoe UI"/>
                <a:ea typeface="微软雅黑"/>
              </a:rPr>
              <a:t>一、为什么非做不可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AI 海啸冲掉的是什么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为什么答案是「造一条船」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6 月至今，七项工作都做了什么</a:t>
            </a:r>
          </a:p>
        </p:txBody>
      </p:sp>
      <p:sp>
        <p:nvSpPr>
          <p:cNvPr id="12" name="r12"/>
          <p:cNvSpPr/>
          <p:nvPr/>
        </p:nvSpPr>
        <p:spPr>
          <a:xfrm>
            <a:off x="4390666" y="1700000"/>
            <a:ext cx="3410666" cy="1950000"/>
          </a:xfrm>
          <a:prstGeom prst="roundRect">
            <a:avLst>
              <a:gd name="adj" fmla="val 6000"/>
            </a:avLst>
          </a:prstGeom>
          <a:solidFill>
            <a:srgbClr val="1F6FEB">
              <a:alpha val="9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c1"/>
          <p:cNvSpPr txBox="1"/>
          <p:nvPr/>
        </p:nvSpPr>
        <p:spPr>
          <a:xfrm>
            <a:off x="4590666" y="1850000"/>
            <a:ext cx="3010666" cy="19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b="1" dirty="0">
                <a:solidFill>
                  <a:srgbClr val="1F6FEB"/>
                </a:solidFill>
                <a:latin typeface="Segoe UI"/>
                <a:ea typeface="微软雅黑"/>
              </a:rPr>
              <a:t>二、这条船长什么样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试点规模与选拔方式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教学模式、考核改革、实践体系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建设目标与已提请学校支持的事项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为什么必须自己做一套教学智能体</a:t>
            </a:r>
          </a:p>
        </p:txBody>
      </p:sp>
      <p:sp>
        <p:nvSpPr>
          <p:cNvPr id="14" name="r14"/>
          <p:cNvSpPr/>
          <p:nvPr/>
        </p:nvSpPr>
        <p:spPr>
          <a:xfrm>
            <a:off x="8061332" y="1700000"/>
            <a:ext cx="3410666" cy="1950000"/>
          </a:xfrm>
          <a:prstGeom prst="roundRect">
            <a:avLst>
              <a:gd name="adj" fmla="val 6000"/>
            </a:avLst>
          </a:prstGeom>
          <a:solidFill>
            <a:srgbClr val="1A7F37">
              <a:alpha val="9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c2"/>
          <p:cNvSpPr txBox="1"/>
          <p:nvPr/>
        </p:nvSpPr>
        <p:spPr>
          <a:xfrm>
            <a:off x="8261332" y="1850000"/>
            <a:ext cx="3010666" cy="19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b="1" dirty="0">
                <a:solidFill>
                  <a:srgbClr val="1A7F37"/>
                </a:solidFill>
                <a:latin typeface="Segoe UI"/>
                <a:ea typeface="微软雅黑"/>
              </a:rPr>
              <a:t>三、请各位上船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未来 AI 教育的 Agent 构想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国内外调研：我们站在谁的肩膀上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两个已经在跑的 Agent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b="1" dirty="0">
                <a:solidFill>
                  <a:srgbClr val="333333"/>
                </a:solidFill>
                <a:latin typeface="Segoe UI"/>
                <a:ea typeface="微软雅黑"/>
              </a:rPr>
              <a:t>三种参与方式，扫码即可报名</a:t>
            </a:r>
          </a:p>
        </p:txBody>
      </p:sp>
      <p:sp>
        <p:nvSpPr>
          <p:cNvPr id="16" name="r16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全程约 15 分钟。中间任何一页觉得不对，请直接打断——讲的每个数字都能当场打开系统核对。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2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6000"/>
            </a:avLst>
          </a:prstGeom>
          <a:solidFill>
            <a:srgbClr val="0B1B3A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w"/>
          <p:cNvSpPr txBox="1"/>
          <p:nvPr/>
        </p:nvSpPr>
        <p:spPr>
          <a:xfrm>
            <a:off x="720000" y="1500000"/>
            <a:ext cx="10752000" cy="26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9000" b="1" dirty="0">
                <a:solidFill>
                  <a:srgbClr val="FFFFFF"/>
                </a:solidFill>
                <a:latin typeface="Segoe UI"/>
                <a:ea typeface="微软雅黑"/>
              </a:rPr>
              <a:t>WHY ?</a:t>
            </a:r>
          </a:p>
        </p:txBody>
      </p:sp>
      <p:sp>
        <p:nvSpPr>
          <p:cNvPr id="4" name="s"/>
          <p:cNvSpPr txBox="1"/>
          <p:nvPr/>
        </p:nvSpPr>
        <p:spPr>
          <a:xfrm>
            <a:off x="720000" y="4400000"/>
            <a:ext cx="10752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800" dirty="0">
                <a:solidFill>
                  <a:srgbClr val="9CC6FF"/>
                </a:solidFill>
                <a:latin typeface="Segoe UI"/>
                <a:ea typeface="微软雅黑"/>
              </a:rPr>
              <a:t>为什么一个学院要停下来，专门为一批学生重做一套培养方式？</a:t>
            </a:r>
          </a:p>
        </p:txBody>
      </p:sp>
      <p:sp>
        <p:nvSpPr>
          <p:cNvPr id="5" name="f"/>
          <p:cNvSpPr txBox="1"/>
          <p:nvPr/>
        </p:nvSpPr>
        <p:spPr>
          <a:xfrm>
            <a:off x="720000" y="5958000"/>
            <a:ext cx="10752000" cy="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9CC6FF"/>
                </a:solidFill>
                <a:latin typeface="Segoe UI"/>
                <a:ea typeface="微软雅黑"/>
              </a:rPr>
              <a:t>先请各位想一分钟。想完了，我再讲我们做了什么。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9525">
            <a:solidFill>
              <a:srgbClr val="D5DBE3"/>
            </a:solidFill>
          </a:ln>
        </p:spPr>
      </p:pic>
      <p:sp>
        <p:nvSpPr>
          <p:cNvPr id="3" name="r3"/>
          <p:cNvSpPr/>
          <p:nvPr/>
        </p:nvSpPr>
        <p:spPr>
          <a:xfrm>
            <a:off x="720000" y="5918000"/>
            <a:ext cx="10752000" cy="520000"/>
          </a:xfrm>
          <a:prstGeom prst="roundRect">
            <a:avLst>
              <a:gd name="adj" fmla="val 6000"/>
            </a:avLst>
          </a:prstGeom>
          <a:solidFill>
            <a:srgbClr val="0A1730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note"/>
          <p:cNvSpPr txBox="1"/>
          <p:nvPr/>
        </p:nvSpPr>
        <p:spPr>
          <a:xfrm>
            <a:off x="720000" y="5968000"/>
            <a:ext cx="107520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DCEBFF"/>
                </a:solidFill>
                <a:latin typeface="Segoe UI"/>
                <a:ea typeface="微软雅黑"/>
              </a:rPr>
              <a:t>作业能跑、报告像样、格式规范，问两句却答不上来。作业、考勤、课堂反应——我们判断「他学会了没有」的老信号，同时失效了。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43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9CC6FF"/>
                </a:solidFill>
                <a:latin typeface="Segoe UI"/>
                <a:ea typeface="微软雅黑"/>
              </a:rPr>
              <a:t>4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9525">
            <a:solidFill>
              <a:srgbClr val="D5DBE3"/>
            </a:solidFill>
          </a:ln>
        </p:spPr>
      </p:pic>
      <p:sp>
        <p:nvSpPr>
          <p:cNvPr id="3" name="r3"/>
          <p:cNvSpPr/>
          <p:nvPr/>
        </p:nvSpPr>
        <p:spPr>
          <a:xfrm>
            <a:off x="720000" y="5918000"/>
            <a:ext cx="10752000" cy="520000"/>
          </a:xfrm>
          <a:prstGeom prst="roundRect">
            <a:avLst>
              <a:gd name="adj" fmla="val 6000"/>
            </a:avLst>
          </a:prstGeom>
          <a:solidFill>
            <a:srgbClr val="08183E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note"/>
          <p:cNvSpPr txBox="1"/>
          <p:nvPr/>
        </p:nvSpPr>
        <p:spPr>
          <a:xfrm>
            <a:off x="720000" y="5968000"/>
            <a:ext cx="107520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DCEBFF"/>
                </a:solidFill>
                <a:latin typeface="Segoe UI"/>
                <a:ea typeface="微软雅黑"/>
              </a:rPr>
              <a:t>浪不会等我们讨论清楚。院长实验班就是这条船——先把 60 个学生、10 个导师、一套可核查的教学方式放上去，跑给全院看。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43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9CC6FF"/>
                </a:solidFill>
                <a:latin typeface="Segoe UI"/>
                <a:ea typeface="微软雅黑"/>
              </a:rPr>
              <a:t>5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6 月到 9 月，我们做了七件事</a:t>
            </a:r>
          </a:p>
        </p:txBody>
      </p:sp>
      <p:sp>
        <p:nvSpPr>
          <p:cNvPr id="4" name="sub"/>
          <p:cNvSpPr txBox="1"/>
          <p:nvPr/>
        </p:nvSpPr>
        <p:spPr>
          <a:xfrm>
            <a:off x="940000" y="1180000"/>
            <a:ext cx="10752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280"/>
                </a:solidFill>
                <a:latin typeface="Segoe UI"/>
                <a:ea typeface="微软雅黑"/>
              </a:rPr>
              <a:t>一个暑假，没有一件是写在教学任务书上的</a:t>
            </a:r>
          </a:p>
        </p:txBody>
      </p:sp>
      <p:graphicFrame>
        <p:nvGraphicFramePr>
          <p:cNvPr id="10" name="t10"/>
          <p:cNvGraphicFramePr/>
          <p:nvPr/>
        </p:nvGraphicFramePr>
        <p:xfrm>
          <a:off x="720000" y="1700000"/>
          <a:ext cx="10752000" cy="4083495"/>
        </p:xfrm>
        <a:graphic>
          <a:graphicData uri="http://schemas.openxmlformats.org/drawingml/2006/table">
            <a:tbl>
              <a:tblPr firstRow="1"/>
              <a:tblGrid>
                <a:gridCol w="597333"/>
                <a:gridCol w="5495466"/>
                <a:gridCol w="4659200"/>
              </a:tblGrid>
              <a:tr h="490355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1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/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1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做了什么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1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现在的状态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490355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1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①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1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实验班培养方案修订</a:t>
                      </a:r>
                      <a:r>
                        <a:rPr lang="zh-CN" altLang="en-US" sz="11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 —— 课程体系、学分结构、集中实践环节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1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改了十多轮，28 门课 / 77.5 学分已入库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0355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1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②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1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《人工智能专业人才培养改革试点工作的报告》</a:t>
                      </a:r>
                      <a:r>
                        <a:rPr lang="zh-CN" altLang="en-US" sz="11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 —— 七部分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1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已报教务处、学工部（2026-09-02）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0355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1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③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1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实验班学生管理办法</a:t>
                      </a:r>
                      <a:r>
                        <a:rPr lang="zh-CN" altLang="en-US" sz="11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 —— 选拔、退出、替补、日常管理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1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主动申请、择优组班、自愿退出、替补递进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101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1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④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1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场地装修方案</a:t>
                      </a:r>
                      <a:r>
                        <a:rPr lang="zh-CN" altLang="en-US" sz="11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 —— 专用教室与驻场宿舍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1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教室 160 m² 以上，配电 / 网络 / 空调 / 照明 / 家具配套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0355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1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⑤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1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第一学期全部课程与项目的集体备课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1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课程与项目一并备，不是各备各的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0355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1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⑥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1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教学智能体开发</a:t>
                      </a:r>
                      <a:r>
                        <a:rPr lang="zh-CN" altLang="en-US" sz="11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 —— 本次汇报的后半段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1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463 知识点 / 5,021 学习事件，已部署运行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0355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1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⑦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1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场地与合作洽谈</a:t>
                      </a:r>
                      <a:r>
                        <a:rPr lang="zh-CN" altLang="en-US" sz="11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 —— 软件园校区、宏天公司、软件园管委会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1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产学研合作协议推进中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11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这七件事只有第⑥件是技术活。</a:t>
            </a:r>
            <a:r>
              <a:rPr lang="zh-CN" altLang="en-US" sz="1400" b="1" dirty="0">
                <a:solidFill>
                  <a:srgbClr val="8A6400"/>
                </a:solidFill>
                <a:latin typeface="Segoe UI"/>
                <a:ea typeface="微软雅黑"/>
              </a:rPr>
              <a:t>其余六件说明的是：这不是一个技术项目，是一次培养方式的整体改造。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6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一、试点规模与选拔方式</a:t>
            </a:r>
          </a:p>
        </p:txBody>
      </p:sp>
      <p:sp>
        <p:nvSpPr>
          <p:cNvPr id="4" name="sub"/>
          <p:cNvSpPr txBox="1"/>
          <p:nvPr/>
        </p:nvSpPr>
        <p:spPr>
          <a:xfrm>
            <a:off x="940000" y="1180000"/>
            <a:ext cx="10752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280"/>
                </a:solidFill>
                <a:latin typeface="Segoe UI"/>
                <a:ea typeface="微软雅黑"/>
              </a:rPr>
              <a:t>2026 年我校首次开设人工智能专升本，招生 128 人，其中约 60 人具备计算机类基础</a:t>
            </a:r>
          </a:p>
        </p:txBody>
      </p:sp>
      <p:graphicFrame>
        <p:nvGraphicFramePr>
          <p:cNvPr id="10" name="t10"/>
          <p:cNvGraphicFramePr/>
          <p:nvPr/>
        </p:nvGraphicFramePr>
        <p:xfrm>
          <a:off x="720000" y="1700000"/>
          <a:ext cx="10752000" cy="3839385"/>
        </p:xfrm>
        <a:graphic>
          <a:graphicData uri="http://schemas.openxmlformats.org/drawingml/2006/table">
            <a:tbl>
              <a:tblPr firstRow="1"/>
              <a:tblGrid>
                <a:gridCol w="1792000"/>
                <a:gridCol w="8960000"/>
              </a:tblGrid>
              <a:tr h="544965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/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怎么定的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544965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规模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在该专业进行试点，规模 66 人左右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483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学生遴选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主动申请、择优组班、自愿退出、替补递进；入学第一个月内统一组织，第一学期期末设一次自愿退出窗口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483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选拔方式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笔试考察「人工智能核心课程部分章节的 AI 辅助自学成效」；面试考察动手能力、既往项目经历与发展潜力，面试比例 ≤ 1.5:1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483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落选学生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确有基础、意愿和决心的，面试通过后可进导师项目组；学籍仍在原班，课程可申请免听、实践课成绩可申请等效认定，其他课程回原班考试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965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教师遴选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3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学院安排、主动申请、择优遴选、自愿退出；</a:t>
                      </a:r>
                      <a:r>
                        <a:rPr lang="zh-CN" altLang="en-US" sz="13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以具备产业项目研发经历者为主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11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「自愿退出、替补递进」是刻意留的口子：把人绑在船上，船就变成了另一种教室。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7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二、教学模式与组织安排</a:t>
            </a:r>
          </a:p>
        </p:txBody>
      </p:sp>
      <p:sp>
        <p:nvSpPr>
          <p:cNvPr id="10" name="r10"/>
          <p:cNvSpPr/>
          <p:nvPr/>
        </p:nvSpPr>
        <p:spPr>
          <a:xfrm>
            <a:off x="720000" y="1400000"/>
            <a:ext cx="10752000" cy="1100000"/>
          </a:xfrm>
          <a:prstGeom prst="roundRect">
            <a:avLst>
              <a:gd name="adj" fmla="val 6000"/>
            </a:avLst>
          </a:prstGeom>
          <a:solidFill>
            <a:srgbClr val="1F6FEB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q"/>
          <p:cNvSpPr txBox="1"/>
          <p:nvPr/>
        </p:nvSpPr>
        <p:spPr>
          <a:xfrm>
            <a:off x="1020000" y="1580000"/>
            <a:ext cx="10152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200" b="1" dirty="0">
                <a:solidFill>
                  <a:srgbClr val="1F6FEB"/>
                </a:solidFill>
                <a:latin typeface="Segoe UI"/>
                <a:ea typeface="微软雅黑"/>
              </a:rPr>
              <a:t>不再进行传统满堂灌授课，以产业项目替代传统课程。</a:t>
            </a:r>
          </a:p>
        </p:txBody>
      </p:sp>
      <p:graphicFrame>
        <p:nvGraphicFramePr>
          <p:cNvPr id="12" name="t12"/>
          <p:cNvGraphicFramePr/>
          <p:nvPr/>
        </p:nvGraphicFramePr>
        <p:xfrm>
          <a:off x="720000" y="2750000"/>
          <a:ext cx="10752000" cy="2778300"/>
        </p:xfrm>
        <a:graphic>
          <a:graphicData uri="http://schemas.openxmlformats.org/drawingml/2006/table">
            <a:tbl>
              <a:tblPr firstRow="1"/>
              <a:tblGrid>
                <a:gridCol w="1553066"/>
                <a:gridCol w="9198933"/>
              </a:tblGrid>
              <a:tr h="46305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/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安排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46305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组织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成立院长工作室，院领导牵头，教学办、学工办、专业负责人、课程教师、项目导师共同参与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305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模式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AI 辅助自学 ＋ 项目驱动实践 ＋ 导师团队指导；现阶段「双轨并行」，传统班级与工作室试点并存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305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师资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先行建设双师型队伍 10 人左右，形成 6–10 个产学研合作项目；2 名专职工程师 + 10 余名研究生全程驻场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305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编组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每组 5–10 人对接一个真实产业项目，配导师 1–2 名，导师组长负责制；毕业设计原则上由项目导师指导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305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作息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周一至周六集中学习实践，8:20–21:00（午休与晚餐不排任务），</a:t>
                      </a:r>
                      <a:r>
                        <a:rPr lang="zh-CN" altLang="en-US" sz="10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是作息框架而非全程授课</a:t>
                      </a:r>
                      <a:r>
                        <a:rPr lang="zh-CN" altLang="en-US" sz="10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；同步建立学业预警与健康关怀机制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13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「双轨并行」既是稳妥，也是设计：它天然给出一个对照组——第 11 页要用到它。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8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三、教学与考核方式改革</a:t>
            </a:r>
          </a:p>
        </p:txBody>
      </p:sp>
      <p:sp>
        <p:nvSpPr>
          <p:cNvPr id="4" name="sub"/>
          <p:cNvSpPr txBox="1"/>
          <p:nvPr/>
        </p:nvSpPr>
        <p:spPr>
          <a:xfrm>
            <a:off x="940000" y="1180000"/>
            <a:ext cx="10752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280"/>
                </a:solidFill>
                <a:latin typeface="Segoe UI"/>
                <a:ea typeface="微软雅黑"/>
              </a:rPr>
              <a:t>AI 赋能学习 ＋ 过程化考核 ＋ 成果导向评价</a:t>
            </a:r>
          </a:p>
        </p:txBody>
      </p:sp>
      <p:graphicFrame>
        <p:nvGraphicFramePr>
          <p:cNvPr id="10" name="t10"/>
          <p:cNvGraphicFramePr/>
          <p:nvPr/>
        </p:nvGraphicFramePr>
        <p:xfrm>
          <a:off x="720000" y="1700000"/>
          <a:ext cx="10752000" cy="1852200"/>
        </p:xfrm>
        <a:graphic>
          <a:graphicData uri="http://schemas.openxmlformats.org/drawingml/2006/table">
            <a:tbl>
              <a:tblPr firstRow="1"/>
              <a:tblGrid>
                <a:gridCol w="2150400"/>
                <a:gridCol w="5973333"/>
                <a:gridCol w="2628266"/>
              </a:tblGrid>
              <a:tr h="46305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课程类别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教学方式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综合成绩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46305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思政类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按原模式执行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原模式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305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公共基础课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授课教师引导下的 AI 自主学习为主，项目导师指导下的 AI 应用实践为辅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笔试 70% ＋ 实践 30%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305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专业课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授课教师引导下的 AI 自主学习 ＋ 项目导师指导下的项目实践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笔试 30% ＋ 实践 70%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body"/>
          <p:cNvSpPr txBox="1"/>
          <p:nvPr/>
        </p:nvSpPr>
        <p:spPr>
          <a:xfrm>
            <a:off x="720000" y="3812200"/>
            <a:ext cx="10752000" cy="20458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每月 1 次学习成效检查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：开卷笔试、项目进度评审、代码审查或口头答辩，计入平时成绩并作为学业预警依据。经工作室同意，专业课可申请由其他课程或项目成果等效替代，学院审核后报教务处备案。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AI 使用的底线写死在文件里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：凡本人提交的成果，无论是否借助 AI 生成，本人须能清晰阐述核心架构、关键设计意图与主要逻辑链路，并能独立排查、验证、修改其中错误。</a:t>
            </a:r>
          </a:p>
          <a:p>
            <a:pPr lvl="1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–"/>
            </a:pP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答辩中老师可就任意部分提问，</a:t>
            </a:r>
            <a:r>
              <a:rPr lang="zh-CN" altLang="en-US" sz="1600" b="1" dirty="0">
                <a:solidFill>
                  <a:srgbClr val="4A5561"/>
                </a:solidFill>
                <a:latin typeface="Segoe UI"/>
                <a:ea typeface="微软雅黑"/>
              </a:rPr>
              <a:t>无法解释的部分不计入个人成绩</a:t>
            </a: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；闭卷笔试、现场答辩等场合禁止使用 AI 工具。</a:t>
            </a:r>
          </a:p>
        </p:txBody>
      </p:sp>
      <p:sp>
        <p:nvSpPr>
          <p:cNvPr id="12" name="r12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这一条不是防作弊条款，是这套培养方式的定义：允许你用 AI，但你必须为它写出来的每一行负责。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9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五、实践教学体系</a:t>
            </a:r>
          </a:p>
        </p:txBody>
      </p:sp>
      <p:sp>
        <p:nvSpPr>
          <p:cNvPr id="10" name="r10"/>
          <p:cNvSpPr/>
          <p:nvPr/>
        </p:nvSpPr>
        <p:spPr>
          <a:xfrm>
            <a:off x="720000" y="1400000"/>
            <a:ext cx="10752000" cy="1100000"/>
          </a:xfrm>
          <a:prstGeom prst="roundRect">
            <a:avLst>
              <a:gd name="adj" fmla="val 6000"/>
            </a:avLst>
          </a:prstGeom>
          <a:solidFill>
            <a:srgbClr val="1F6FEB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q"/>
          <p:cNvSpPr txBox="1"/>
          <p:nvPr/>
        </p:nvSpPr>
        <p:spPr>
          <a:xfrm>
            <a:off x="1020000" y="1580000"/>
            <a:ext cx="10152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200" b="1" dirty="0">
                <a:solidFill>
                  <a:srgbClr val="1F6FEB"/>
                </a:solidFill>
                <a:latin typeface="Segoe UI"/>
                <a:ea typeface="微软雅黑"/>
              </a:rPr>
              <a:t>项目即课程，课程即项目。</a:t>
            </a:r>
          </a:p>
        </p:txBody>
      </p:sp>
      <p:graphicFrame>
        <p:nvGraphicFramePr>
          <p:cNvPr id="12" name="t12"/>
          <p:cNvGraphicFramePr/>
          <p:nvPr/>
        </p:nvGraphicFramePr>
        <p:xfrm>
          <a:off x="720000" y="2750000"/>
          <a:ext cx="10752000" cy="2315250"/>
        </p:xfrm>
        <a:graphic>
          <a:graphicData uri="http://schemas.openxmlformats.org/drawingml/2006/table">
            <a:tbl>
              <a:tblPr firstRow="1"/>
              <a:tblGrid>
                <a:gridCol w="3106133"/>
                <a:gridCol w="7645866"/>
              </a:tblGrid>
              <a:tr h="46305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四个递进阶段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学生在这一阶段要能做到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46305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① 基础能力训练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跑通环境、读懂代码、按规范提交，成为项目组能用的人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305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② 核心算法与模型训练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独立完成一个模型/算法环节，能解释为什么这样选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305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③ 系统集成与部署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把自己那块接进真实系统，处理真实数据与真实故障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305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④ 独立承担子系统开发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对一个子系统的交付负责，能向企业方讲清楚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body"/>
          <p:cNvSpPr txBox="1"/>
          <p:nvPr/>
        </p:nvSpPr>
        <p:spPr>
          <a:xfrm>
            <a:off x="720000" y="5325250"/>
            <a:ext cx="10752000" cy="53275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全部采用真实项目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：来源于校企合作、教师横向课题与行业真实需求，不编教学案例。每个学生都产出</a:t>
            </a: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可运行、可展示、可用于求职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的成果。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涉及合作企业技术资料与商业信息的，学生负保密义务，</a:t>
            </a: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该义务在退出工作室或毕业后继续有效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。</a:t>
            </a:r>
          </a:p>
        </p:txBody>
      </p:sp>
      <p:sp>
        <p:nvSpPr>
          <p:cNvPr id="14" name="r14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现状：3 个项目 / 76 个任务 / 284 条任务-知识点映射已入库，DAC-3D 光学检测是第一个真实在研项目。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10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六、建设目标与预期成效　七、已提请学校支持的事项</a:t>
            </a:r>
          </a:p>
        </p:txBody>
      </p:sp>
      <p:graphicFrame>
        <p:nvGraphicFramePr>
          <p:cNvPr id="10" name="t10"/>
          <p:cNvGraphicFramePr/>
          <p:nvPr/>
        </p:nvGraphicFramePr>
        <p:xfrm>
          <a:off x="720000" y="1400000"/>
          <a:ext cx="10752000" cy="3807000"/>
        </p:xfrm>
        <a:graphic>
          <a:graphicData uri="http://schemas.openxmlformats.org/drawingml/2006/table">
            <a:tbl>
              <a:tblPr firstRow="1"/>
              <a:tblGrid>
                <a:gridCol w="5495466"/>
                <a:gridCol w="5256533"/>
              </a:tblGrid>
              <a:tr h="51766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2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量化指标（依托双轨并行设置对照组）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2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已提请学校支持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69292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2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高质量就业率明显高于非试点班：大二前就业意向达成率 ≥ 20%，进入最后一学期前 ≥ 50%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2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① 专用教室一间（≥160 m²），配电 / 网络 / 空调 / 照明 / 家具配套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6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2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可展示项目成果数量明显高于非试点班，实验班不少于 10 个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2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② 统筹试点学生相对集中住宿，并为驻场研究生提供宿舍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292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2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短期（1 年）</a:t>
                      </a:r>
                      <a:r>
                        <a:rPr lang="zh-CN" altLang="en-US" sz="12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：团队搭建、班级组建、考核机制、系统一期投入使用、首门课程知识图谱入库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2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③ 2 名专职工程师课酬每人每月 2000 元 × 11 个月，合计 4.4 万元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292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2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中期（2–3 年）</a:t>
                      </a:r>
                      <a:r>
                        <a:rPr lang="zh-CN" altLang="en-US" sz="12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：推广至学院其他专业，建成 AI+智慧交通特色方案，系统覆盖专业核心课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2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④ 教学工作量核算与教师考核评价适当倾斜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292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2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长期（3–5 年）</a:t>
                      </a:r>
                      <a:r>
                        <a:rPr lang="zh-CN" altLang="en-US" sz="12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：辐射 AI+海洋 / 土木 / 智能制造，系统向全校开放，形成校级 AI 教学基础设施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2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⑤ 服务器与算力、网络接入与数据安全合规；算力建成前先行提供第一年 5 万元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11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愿景：每一个「人工智能+」专业的专用教室，都是学校展现科研、育人、产业服务模式创新与成效的窗口。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11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为什么非得自己做一套教学智能体</a:t>
            </a:r>
          </a:p>
        </p:txBody>
      </p:sp>
      <p:sp>
        <p:nvSpPr>
          <p:cNvPr id="4" name="sub"/>
          <p:cNvSpPr txBox="1"/>
          <p:nvPr/>
        </p:nvSpPr>
        <p:spPr>
          <a:xfrm>
            <a:off x="940000" y="1180000"/>
            <a:ext cx="10752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280"/>
                </a:solidFill>
                <a:latin typeface="Segoe UI"/>
                <a:ea typeface="微软雅黑"/>
              </a:rPr>
              <a:t>说实话，这个智能体是被院长逼出来的</a:t>
            </a:r>
          </a:p>
        </p:txBody>
      </p:sp>
      <p:sp>
        <p:nvSpPr>
          <p:cNvPr id="10" name="r10"/>
          <p:cNvSpPr/>
          <p:nvPr/>
        </p:nvSpPr>
        <p:spPr>
          <a:xfrm>
            <a:off x="720000" y="1700000"/>
            <a:ext cx="3410666" cy="2280000"/>
          </a:xfrm>
          <a:prstGeom prst="roundRect">
            <a:avLst>
              <a:gd name="adj" fmla="val 6000"/>
            </a:avLst>
          </a:prstGeom>
          <a:solidFill>
            <a:srgbClr val="CF222E">
              <a:alpha val="9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c0"/>
          <p:cNvSpPr txBox="1"/>
          <p:nvPr/>
        </p:nvSpPr>
        <p:spPr>
          <a:xfrm>
            <a:off x="920000" y="1850000"/>
            <a:ext cx="3010666" cy="22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b="1" dirty="0">
                <a:solidFill>
                  <a:srgbClr val="CF222E"/>
                </a:solidFill>
                <a:latin typeface="Segoe UI"/>
                <a:ea typeface="微软雅黑"/>
              </a:rPr>
              <a:t>实验班给自己定的三条硬约束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b="1" dirty="0">
                <a:solidFill>
                  <a:srgbClr val="333333"/>
                </a:solidFill>
                <a:latin typeface="Segoe UI"/>
                <a:ea typeface="微软雅黑"/>
              </a:rPr>
              <a:t>取消黑板</a:t>
            </a: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 —— 不再有满堂灌的物理载体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b="1" dirty="0">
                <a:solidFill>
                  <a:srgbClr val="333333"/>
                </a:solidFill>
                <a:latin typeface="Segoe UI"/>
                <a:ea typeface="微软雅黑"/>
              </a:rPr>
              <a:t>教师授课时间压缩到原来的 1/4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b="1" dirty="0">
                <a:solidFill>
                  <a:srgbClr val="333333"/>
                </a:solidFill>
                <a:latin typeface="Segoe UI"/>
                <a:ea typeface="微软雅黑"/>
              </a:rPr>
              <a:t>项目制必须融入教学</a:t>
            </a: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，不是课外加餐</a:t>
            </a:r>
          </a:p>
        </p:txBody>
      </p:sp>
      <p:sp>
        <p:nvSpPr>
          <p:cNvPr id="12" name="r12"/>
          <p:cNvSpPr/>
          <p:nvPr/>
        </p:nvSpPr>
        <p:spPr>
          <a:xfrm>
            <a:off x="4390666" y="1700000"/>
            <a:ext cx="3410666" cy="2280000"/>
          </a:xfrm>
          <a:prstGeom prst="roundRect">
            <a:avLst>
              <a:gd name="adj" fmla="val 6000"/>
            </a:avLst>
          </a:prstGeom>
          <a:solidFill>
            <a:srgbClr val="6B7280">
              <a:alpha val="9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c1"/>
          <p:cNvSpPr txBox="1"/>
          <p:nvPr/>
        </p:nvSpPr>
        <p:spPr>
          <a:xfrm>
            <a:off x="4590666" y="1850000"/>
            <a:ext cx="3010666" cy="22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b="1" dirty="0">
                <a:solidFill>
                  <a:srgbClr val="6B7280"/>
                </a:solidFill>
                <a:latin typeface="Segoe UI"/>
                <a:ea typeface="微软雅黑"/>
              </a:rPr>
              <a:t>同时还必须满足的常规要求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培养方案、学分、学时一样不能少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考核、成绩、教学档案一样要交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教务与学工的全部流程照常走</a:t>
            </a:r>
          </a:p>
        </p:txBody>
      </p:sp>
      <p:sp>
        <p:nvSpPr>
          <p:cNvPr id="14" name="r14"/>
          <p:cNvSpPr/>
          <p:nvPr/>
        </p:nvSpPr>
        <p:spPr>
          <a:xfrm>
            <a:off x="8061332" y="1700000"/>
            <a:ext cx="3410666" cy="2280000"/>
          </a:xfrm>
          <a:prstGeom prst="roundRect">
            <a:avLst>
              <a:gd name="adj" fmla="val 6000"/>
            </a:avLst>
          </a:prstGeom>
          <a:solidFill>
            <a:srgbClr val="1A7F37">
              <a:alpha val="9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c2"/>
          <p:cNvSpPr txBox="1"/>
          <p:nvPr/>
        </p:nvSpPr>
        <p:spPr>
          <a:xfrm>
            <a:off x="8261332" y="1850000"/>
            <a:ext cx="3010666" cy="22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b="1" dirty="0">
                <a:solidFill>
                  <a:srgbClr val="1A7F37"/>
                </a:solidFill>
                <a:latin typeface="Segoe UI"/>
                <a:ea typeface="微软雅黑"/>
              </a:rPr>
              <a:t>于是只剩一条路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b="1" dirty="0">
                <a:solidFill>
                  <a:srgbClr val="333333"/>
                </a:solidFill>
                <a:latin typeface="Segoe UI"/>
                <a:ea typeface="微软雅黑"/>
              </a:rPr>
              <a:t>授课时间少了 3/4，教学质量还要更高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通用大模型不知道每个学生真实学到哪，支撑不了过程管控与精准指导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b="1" dirty="0">
                <a:solidFill>
                  <a:srgbClr val="333333"/>
                </a:solidFill>
                <a:latin typeface="Segoe UI"/>
                <a:ea typeface="微软雅黑"/>
              </a:rPr>
              <a:t>没有智能体，这个任务几乎无法完成</a:t>
            </a:r>
          </a:p>
        </p:txBody>
      </p:sp>
      <p:sp>
        <p:nvSpPr>
          <p:cNvPr id="16" name="body"/>
          <p:cNvSpPr txBox="1"/>
          <p:nvPr/>
        </p:nvSpPr>
        <p:spPr>
          <a:xfrm>
            <a:off x="720000" y="4140000"/>
            <a:ext cx="10752000" cy="171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所以系统研发本身也被写成了学生的核心实战项目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：知识点标注、数据适配、看板开发由学生分组承担，核心架构由导师把关——「建设系统」与「接受培养」是同一件事。</a:t>
            </a:r>
          </a:p>
        </p:txBody>
      </p:sp>
      <p:sp>
        <p:nvSpPr>
          <p:cNvPr id="17" name="r17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这一段写在试点报告第四部分。它不是技术偏好，是被约束条件逼出来的唯一解。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12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417" y="0"/>
            <a:ext cx="10409165" cy="5858000"/>
          </a:xfrm>
          <a:prstGeom prst="rect">
            <a:avLst/>
          </a:prstGeom>
          <a:ln w="9525">
            <a:solidFill>
              <a:srgbClr val="D5DBE3"/>
            </a:solidFill>
          </a:ln>
        </p:spPr>
      </p:pic>
      <p:sp>
        <p:nvSpPr>
          <p:cNvPr id="3" name="r3"/>
          <p:cNvSpPr/>
          <p:nvPr/>
        </p:nvSpPr>
        <p:spPr>
          <a:xfrm>
            <a:off x="0" y="5858000"/>
            <a:ext cx="12192000" cy="94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note"/>
          <p:cNvSpPr txBox="1"/>
          <p:nvPr/>
        </p:nvSpPr>
        <p:spPr>
          <a:xfrm>
            <a:off x="720000" y="5998000"/>
            <a:ext cx="10752000" cy="8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600" dirty="0">
                <a:solidFill>
                  <a:srgbClr val="1B1F24"/>
                </a:solidFill>
                <a:latin typeface="Segoe UI"/>
                <a:ea typeface="微软雅黑"/>
              </a:rPr>
              <a:t>我们要做的不是一个更聪明的聊天机器人，是一套</a:t>
            </a:r>
            <a:r>
              <a:rPr lang="zh-CN" altLang="en-US" sz="1600" b="1" dirty="0">
                <a:solidFill>
                  <a:srgbClr val="1B1F24"/>
                </a:solidFill>
                <a:latin typeface="Segoe UI"/>
                <a:ea typeface="微软雅黑"/>
              </a:rPr>
              <a:t>以学生为中心</a:t>
            </a:r>
            <a:r>
              <a:rPr lang="zh-CN" altLang="en-US" sz="1600" dirty="0">
                <a:solidFill>
                  <a:srgbClr val="1B1F24"/>
                </a:solidFill>
                <a:latin typeface="Segoe UI"/>
                <a:ea typeface="微软雅黑"/>
              </a:rPr>
              <a:t>的角色协同。先做出来两个：教师侧的项目导师 Agent，学生侧的学习 Agent。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43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13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在动手之前，我们把国内外做完了一轮调研</a:t>
            </a:r>
          </a:p>
        </p:txBody>
      </p:sp>
      <p:sp>
        <p:nvSpPr>
          <p:cNvPr id="4" name="sub"/>
          <p:cNvSpPr txBox="1"/>
          <p:nvPr/>
        </p:nvSpPr>
        <p:spPr>
          <a:xfrm>
            <a:off x="940000" y="1180000"/>
            <a:ext cx="10752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280"/>
                </a:solidFill>
                <a:latin typeface="Segoe UI"/>
                <a:ea typeface="微软雅黑"/>
              </a:rPr>
              <a:t>三家同行各写了一份逐条研判，都在 docs/ 下：《OpenMAIC 研判》《DeepTutor 研判》《LearnVector 研判》</a:t>
            </a:r>
          </a:p>
        </p:txBody>
      </p:sp>
      <p:graphicFrame>
        <p:nvGraphicFramePr>
          <p:cNvPr id="10" name="t10"/>
          <p:cNvGraphicFramePr/>
          <p:nvPr/>
        </p:nvGraphicFramePr>
        <p:xfrm>
          <a:off x="720000" y="1700000"/>
          <a:ext cx="10752000" cy="4683300"/>
        </p:xfrm>
        <a:graphic>
          <a:graphicData uri="http://schemas.openxmlformats.org/drawingml/2006/table">
            <a:tbl>
              <a:tblPr firstRow="1"/>
              <a:tblGrid>
                <a:gridCol w="3038608"/>
                <a:gridCol w="3973565"/>
                <a:gridCol w="3739826"/>
              </a:tblGrid>
              <a:tr h="51766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2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来源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2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它证明了什么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2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我们吸收了什么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86818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2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理论根基</a:t>
                      </a:r>
                      <a:r>
                        <a:rPr lang="zh-CN" altLang="en-US" sz="12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：Bloom 两个标准差、BKT 贝叶斯知识追踪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2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一对一 + 掌握学习可高出常规班级约 2 个标准差；掌握度可由答题序列推出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2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学生 Agent 的目标就是这 1–2 个 σ</a:t>
                      </a:r>
                      <a:r>
                        <a:rPr lang="zh-CN" altLang="en-US" sz="12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；BKT 做算法内核，我们在它之上加了验证与遗忘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18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2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OpenMAIC</a:t>
                      </a:r>
                      <a:r>
                        <a:rPr lang="zh-CN" altLang="en-US" sz="12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　清华 THU-MAIC　MIT　3.1 万星　JCST'26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2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多智能体课堂：AI 教师 + AI 同学；一键从材料成课；内置 20 个 SKILL.md 技能包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2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印证了上一页那张构想图不是空想</a:t>
                      </a:r>
                      <a:r>
                        <a:rPr lang="zh-CN" altLang="en-US" sz="12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；课件链路与 SKILL.md 格式我们已有，但排版走确定性代码，模型只写讲解词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292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2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DeepTutor</a:t>
                      </a:r>
                      <a:r>
                        <a:rPr lang="zh-CN" altLang="en-US" sz="12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　香港大学 HKUDS　Apache-2.0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2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一个 agent loop 跑出题、批改、分步解题、限域调研、图示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2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能力面全抄，判定权不让</a:t>
                      </a:r>
                      <a:r>
                        <a:rPr lang="zh-CN" altLang="en-US" sz="12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：判分走确定性算法，模型只写题面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18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2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LearnVector</a:t>
                      </a:r>
                      <a:r>
                        <a:rPr lang="zh-CN" altLang="en-US" sz="12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　吴恩达　Coursera 战投 1 亿美元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2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「陪到你真的会、并且能证明」；顺着学法而不只是顺着难度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2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落成可判定规则：跨时间验证、遗忘复检、提示依赖度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18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2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两条教训</a:t>
                      </a:r>
                      <a:r>
                        <a:rPr lang="zh-CN" altLang="en-US" sz="12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：Khanmigo（可汗）、Alpha School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2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前者仅约 15% 学生经常使用——难题在行为不在算法；后者宣称的成效经不起第三方核查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2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「主动使用率」列为四个合法优化目标之一；`make replay` 让任何人可拿事件流自行重算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14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已经在跑的第一个：教师侧 · 项目导师 Agent</a:t>
            </a:r>
          </a:p>
        </p:txBody>
      </p:sp>
      <p:sp>
        <p:nvSpPr>
          <p:cNvPr id="10" name="r10"/>
          <p:cNvSpPr/>
          <p:nvPr/>
        </p:nvSpPr>
        <p:spPr>
          <a:xfrm>
            <a:off x="720000" y="1400000"/>
            <a:ext cx="10752000" cy="1100000"/>
          </a:xfrm>
          <a:prstGeom prst="roundRect">
            <a:avLst>
              <a:gd name="adj" fmla="val 6000"/>
            </a:avLst>
          </a:prstGeom>
          <a:solidFill>
            <a:srgbClr val="1F6FEB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q"/>
          <p:cNvSpPr txBox="1"/>
          <p:nvPr/>
        </p:nvSpPr>
        <p:spPr>
          <a:xfrm>
            <a:off x="1020000" y="1580000"/>
            <a:ext cx="10152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200" b="1" dirty="0">
                <a:solidFill>
                  <a:srgbClr val="1F6FEB"/>
                </a:solidFill>
                <a:latin typeface="Segoe UI"/>
                <a:ea typeface="微软雅黑"/>
              </a:rPr>
              <a:t>目标：把教师花在「教学材料」上的时间归零。</a:t>
            </a:r>
          </a:p>
        </p:txBody>
      </p:sp>
      <p:graphicFrame>
        <p:nvGraphicFramePr>
          <p:cNvPr id="12" name="t12"/>
          <p:cNvGraphicFramePr/>
          <p:nvPr/>
        </p:nvGraphicFramePr>
        <p:xfrm>
          <a:off x="720000" y="2750000"/>
          <a:ext cx="10752000" cy="3241350"/>
        </p:xfrm>
        <a:graphic>
          <a:graphicData uri="http://schemas.openxmlformats.org/drawingml/2006/table">
            <a:tbl>
              <a:tblPr firstRow="1"/>
              <a:tblGrid>
                <a:gridCol w="3250604"/>
                <a:gridCol w="5501023"/>
                <a:gridCol w="2000372"/>
              </a:tblGrid>
              <a:tr h="46305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教师原来要做的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现在由谁做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46305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写教学大纲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按知识图谱自动生成草案，教师改后确认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已跑通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305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写教学计划 / 学时分配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由大纲派生，按每节知识点上限自动切分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已跑通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305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做备课课件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确定性排版生成 PPTX，模型只写讲解词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已跑通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305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出题、组卷、批改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确定性选题 + 规则判分；题库 64 题（62 题已审）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已跑通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305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期末教学档案归档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由事件流与教学计划自动汇编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待做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305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判「他学会了没有」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仍然是教师</a:t>
                      </a:r>
                      <a:r>
                        <a:rPr lang="zh-CN" altLang="en-US" sz="10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 —— 这一条不交给机器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0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不做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13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8A6400"/>
                </a:solidFill>
                <a:latin typeface="Segoe UI"/>
                <a:ea typeface="微软雅黑"/>
              </a:rPr>
              <a:t>教师留下的那部分，恰恰是最不可替代的部分</a:t>
            </a: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：判断题目出得对不对、知识点粒度合不合适、这个学生到底会没会。机器做比对，教师做判断。模型出的题一律进待审队列，教师确认前不得发给学生。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15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已经在跑的第二个：学生侧 · 学习 Agent</a:t>
            </a:r>
          </a:p>
        </p:txBody>
      </p:sp>
      <p:sp>
        <p:nvSpPr>
          <p:cNvPr id="4" name="sub"/>
          <p:cNvSpPr txBox="1"/>
          <p:nvPr/>
        </p:nvSpPr>
        <p:spPr>
          <a:xfrm>
            <a:off x="940000" y="1180000"/>
            <a:ext cx="10752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280"/>
                </a:solidFill>
                <a:latin typeface="Segoe UI"/>
                <a:ea typeface="微软雅黑"/>
              </a:rPr>
              <a:t>目标写得很直白：把 Bloom 的 1–2 个标准差，用工程手段做到规模化</a:t>
            </a:r>
          </a:p>
        </p:txBody>
      </p:sp>
      <p:graphicFrame>
        <p:nvGraphicFramePr>
          <p:cNvPr id="10" name="t10"/>
          <p:cNvGraphicFramePr/>
          <p:nvPr/>
        </p:nvGraphicFramePr>
        <p:xfrm>
          <a:off x="720000" y="1700000"/>
          <a:ext cx="10752000" cy="3102785"/>
        </p:xfrm>
        <a:graphic>
          <a:graphicData uri="http://schemas.openxmlformats.org/drawingml/2006/table">
            <a:tbl>
              <a:tblPr firstRow="1"/>
              <a:tblGrid>
                <a:gridCol w="4061866"/>
                <a:gridCol w="6690133"/>
              </a:tblGrid>
              <a:tr h="490355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1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一对一辅导之所以有效，靠的是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1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我们用什么把它规模化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65101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1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老师知道你此刻卡在哪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1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拉取式缺口：463 个知识点 / 547 条依赖边，缺口 = 任务所需 − 已掌握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0355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1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老师知道病根不在表面那一处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1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根因回溯沿依赖边上溯；70 条依赖边的两端不在同一门课里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0355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1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老师不会直接给答案，而是追着问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1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苏格拉底式追问，反复卡住才逐级降级并留痕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0355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1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老师记得你上次错在哪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1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错误模式库 8 类 / 57 条实例，跨届累积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0355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1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老师会隔一阵回头考你一次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1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跨时间验证 + 遗忘复检：达标 104 项，真正已验证只有 39 项（38%）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body"/>
          <p:cNvSpPr txBox="1"/>
          <p:nvPr/>
        </p:nvSpPr>
        <p:spPr>
          <a:xfrm>
            <a:off x="720000" y="5062785"/>
            <a:ext cx="10752000" cy="79521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5,021 条学习事件只追加、不修改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，掌握度由事件算出，任何人可以拿走事件流重算一遍——它不是模型说的。</a:t>
            </a:r>
          </a:p>
        </p:txBody>
      </p:sp>
      <p:sp>
        <p:nvSpPr>
          <p:cNvPr id="12" name="r12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刻意不做的：不奖励当场正确率、不展示课程进度百分比、不为提升体验而降低难度。让「坚持」上瘾，不让「简单」上瘾。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16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请各位上船：三种参与方式，扫码就能报名</a:t>
            </a:r>
          </a:p>
        </p:txBody>
      </p:sp>
      <p:sp>
        <p:nvSpPr>
          <p:cNvPr id="4" name="sub"/>
          <p:cNvSpPr txBox="1"/>
          <p:nvPr/>
        </p:nvSpPr>
        <p:spPr>
          <a:xfrm>
            <a:off x="940000" y="1180000"/>
            <a:ext cx="10752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280"/>
                </a:solidFill>
                <a:latin typeface="Segoe UI"/>
                <a:ea typeface="微软雅黑"/>
              </a:rPr>
              <a:t>报名页 /signup.html　代码仓库 https://gitee.com/ritchiezheng_admin/AI_EDU</a:t>
            </a:r>
          </a:p>
        </p:txBody>
      </p:sp>
      <p:sp>
        <p:nvSpPr>
          <p:cNvPr id="10" name="r10"/>
          <p:cNvSpPr/>
          <p:nvPr/>
        </p:nvSpPr>
        <p:spPr>
          <a:xfrm>
            <a:off x="720000" y="1700000"/>
            <a:ext cx="3410666" cy="3270000"/>
          </a:xfrm>
          <a:prstGeom prst="roundRect">
            <a:avLst>
              <a:gd name="adj" fmla="val 6000"/>
            </a:avLst>
          </a:prstGeom>
          <a:solidFill>
            <a:srgbClr val="1A7F37">
              <a:alpha val="9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c0"/>
          <p:cNvSpPr txBox="1"/>
          <p:nvPr/>
        </p:nvSpPr>
        <p:spPr>
          <a:xfrm>
            <a:off x="920000" y="1850000"/>
            <a:ext cx="3010666" cy="327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b="1" dirty="0">
                <a:solidFill>
                  <a:srgbClr val="1A7F37"/>
                </a:solidFill>
                <a:latin typeface="Segoe UI"/>
                <a:ea typeface="微软雅黑"/>
              </a:rPr>
              <a:t>① 当项目导师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带自己在研的横向 / 纵向课题进来当教学载体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你出题目与验收标准，系统把它拆成可判定的任务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学生产出可折算集中实践学分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b="1" dirty="0">
                <a:solidFill>
                  <a:srgbClr val="333333"/>
                </a:solidFill>
                <a:latin typeface="Segoe UI"/>
                <a:ea typeface="微软雅黑"/>
              </a:rPr>
              <a:t>投入</a:t>
            </a: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：接入时 2–3 次讨论，之后按项目节奏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b="1" dirty="0">
                <a:solidFill>
                  <a:srgbClr val="333333"/>
                </a:solidFill>
                <a:latin typeface="Segoe UI"/>
                <a:ea typeface="微软雅黑"/>
              </a:rPr>
              <a:t>已有 3 个项目在跑，下一个随时可接</a:t>
            </a:r>
          </a:p>
        </p:txBody>
      </p:sp>
      <p:sp>
        <p:nvSpPr>
          <p:cNvPr id="12" name="r12"/>
          <p:cNvSpPr/>
          <p:nvPr/>
        </p:nvSpPr>
        <p:spPr>
          <a:xfrm>
            <a:off x="4390666" y="1700000"/>
            <a:ext cx="3410666" cy="3270000"/>
          </a:xfrm>
          <a:prstGeom prst="roundRect">
            <a:avLst>
              <a:gd name="adj" fmla="val 6000"/>
            </a:avLst>
          </a:prstGeom>
          <a:solidFill>
            <a:srgbClr val="1F6FEB">
              <a:alpha val="9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c1"/>
          <p:cNvSpPr txBox="1"/>
          <p:nvPr/>
        </p:nvSpPr>
        <p:spPr>
          <a:xfrm>
            <a:off x="4590666" y="1850000"/>
            <a:ext cx="3010666" cy="327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b="1" dirty="0">
                <a:solidFill>
                  <a:srgbClr val="1F6FEB"/>
                </a:solidFill>
                <a:latin typeface="Segoe UI"/>
                <a:ea typeface="微软雅黑"/>
              </a:rPr>
              <a:t>② 审知识点与映射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审自己课程的知识点：粒度对不对、措辞准不准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审候选映射：现有 335 条待审，每人 20 条即可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写教学技能包：一个 Markdown 文件就能改「怎么问、怎么出题」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b="1" dirty="0">
                <a:solidFill>
                  <a:srgbClr val="333333"/>
                </a:solidFill>
                <a:latin typeface="Segoe UI"/>
                <a:ea typeface="微软雅黑"/>
              </a:rPr>
              <a:t>投入</a:t>
            </a: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：一到两个下午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b="1" dirty="0">
                <a:solidFill>
                  <a:srgbClr val="333333"/>
                </a:solidFill>
                <a:latin typeface="Segoe UI"/>
                <a:ea typeface="微软雅黑"/>
              </a:rPr>
              <a:t>这是当前最缺、也最紧要的一件事</a:t>
            </a:r>
          </a:p>
        </p:txBody>
      </p:sp>
      <p:sp>
        <p:nvSpPr>
          <p:cNvPr id="14" name="r14"/>
          <p:cNvSpPr/>
          <p:nvPr/>
        </p:nvSpPr>
        <p:spPr>
          <a:xfrm>
            <a:off x="8061332" y="1700000"/>
            <a:ext cx="3410666" cy="3270000"/>
          </a:xfrm>
          <a:prstGeom prst="roundRect">
            <a:avLst>
              <a:gd name="adj" fmla="val 6000"/>
            </a:avLst>
          </a:prstGeom>
          <a:solidFill>
            <a:srgbClr val="7C3AED">
              <a:alpha val="9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c2"/>
          <p:cNvSpPr txBox="1"/>
          <p:nvPr/>
        </p:nvSpPr>
        <p:spPr>
          <a:xfrm>
            <a:off x="8261332" y="1850000"/>
            <a:ext cx="3010666" cy="327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b="1" dirty="0">
                <a:solidFill>
                  <a:srgbClr val="7C3AED"/>
                </a:solidFill>
                <a:latin typeface="Segoe UI"/>
                <a:ea typeface="微软雅黑"/>
              </a:rPr>
              <a:t>③ 一起做开发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Gitee 上克隆下来 `make setup` 就能跑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零构建前端、纯标准库后端，无需外网、无需 API Key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适配器、题库、可视化都是独立可做的口子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b="1" dirty="0">
                <a:solidFill>
                  <a:srgbClr val="333333"/>
                </a:solidFill>
                <a:latin typeface="Segoe UI"/>
                <a:ea typeface="微软雅黑"/>
              </a:rPr>
              <a:t>投入</a:t>
            </a:r>
            <a:r>
              <a:rPr lang="zh-CN" altLang="en-US" sz="1200" dirty="0">
                <a:solidFill>
                  <a:srgbClr val="333333"/>
                </a:solidFill>
                <a:latin typeface="Segoe UI"/>
                <a:ea typeface="微软雅黑"/>
              </a:rPr>
              <a:t>：按兴趣，一个模块起步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200" b="1" dirty="0">
                <a:solidFill>
                  <a:srgbClr val="333333"/>
                </a:solidFill>
                <a:latin typeface="Segoe UI"/>
                <a:ea typeface="微软雅黑"/>
              </a:rPr>
              <a:t>305 个测试用例护着，不怕改坏</a:t>
            </a:r>
          </a:p>
        </p:txBody>
      </p:sp>
      <p:sp>
        <p:nvSpPr>
          <p:cNvPr id="16" name="r16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三种都不要求先懂 AI。第②种尤其——它要的是各位在自己课程上的专业判断。</a:t>
            </a:r>
            <a:r>
              <a:rPr lang="zh-CN" altLang="en-US" sz="1400" b="1" dirty="0">
                <a:solidFill>
                  <a:srgbClr val="8A6400"/>
                </a:solidFill>
                <a:latin typeface="Segoe UI"/>
                <a:ea typeface="微软雅黑"/>
              </a:rPr>
              <a:t>下一页有二维码，现在就可以扫</a:t>
            </a: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：不用登录，填姓名和一种参与方式即可。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17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"/>
          <p:cNvSpPr txBox="1"/>
          <p:nvPr/>
        </p:nvSpPr>
        <p:spPr>
          <a:xfrm>
            <a:off x="720000" y="560000"/>
            <a:ext cx="10752000" cy="1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4400" b="1" dirty="0">
                <a:solidFill>
                  <a:srgbClr val="FFFFFF"/>
                </a:solidFill>
                <a:latin typeface="Segoe UI"/>
                <a:ea typeface="微软雅黑"/>
              </a:rPr>
              <a:t>谢　谢</a:t>
            </a:r>
          </a:p>
        </p:txBody>
      </p:sp>
      <p:sp>
        <p:nvSpPr>
          <p:cNvPr id="4" name="r4"/>
          <p:cNvSpPr/>
          <p:nvPr/>
        </p:nvSpPr>
        <p:spPr>
          <a:xfrm>
            <a:off x="2288487" y="1580000"/>
            <a:ext cx="7615025" cy="4338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pic>
        <p:nvPicPr>
          <p:cNvPr id="5" name="img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487" y="1640000"/>
            <a:ext cx="7495025" cy="4218000"/>
          </a:xfrm>
          <a:prstGeom prst="rect">
            <a:avLst/>
          </a:prstGeom>
          <a:ln w="9525">
            <a:solidFill>
              <a:srgbClr val="D5DBE3"/>
            </a:solidFill>
          </a:ln>
        </p:spPr>
      </p:pic>
      <p:sp>
        <p:nvSpPr>
          <p:cNvPr id="6" name="s"/>
          <p:cNvSpPr txBox="1"/>
          <p:nvPr/>
        </p:nvSpPr>
        <p:spPr>
          <a:xfrm>
            <a:off x="720000" y="6038000"/>
            <a:ext cx="10752000" cy="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ctr">
              <a:lnSpc>
                <a:spcPct val="118000"/>
              </a:lnSpc>
              <a:spcBef>
                <a:spcPts val="140"/>
              </a:spcBef>
              <a:buNone/>
            </a:pPr>
            <a:r>
              <a:rPr lang="zh-CN" altLang="en-US" sz="1700" dirty="0">
                <a:solidFill>
                  <a:srgbClr val="E8F0FE"/>
                </a:solidFill>
                <a:latin typeface="Segoe UI"/>
                <a:ea typeface="微软雅黑"/>
              </a:rPr>
              <a:t>浪不会等我们讨论清楚。船已经下水，缺的是人。　人工智能与交通工程学院 · 院长工作室实验班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AIEDU">
  <a:themeElements>
    <a:clrScheme name="AIEDU">
      <a:dk1>
        <a:srgbClr val="1B1F24"/>
      </a:dk1>
      <a:lt1>
        <a:srgbClr val="FFFFFF"/>
      </a:lt1>
      <a:dk2>
        <a:srgbClr val="333333"/>
      </a:dk2>
      <a:lt2>
        <a:srgbClr val="F2F5F9"/>
      </a:lt2>
      <a:accent1>
        <a:srgbClr val="1F6FEB"/>
      </a:accent1>
      <a:accent2>
        <a:srgbClr val="1A7F37"/>
      </a:accent2>
      <a:accent3>
        <a:srgbClr val="BF8700"/>
      </a:accent3>
      <a:accent4>
        <a:srgbClr val="CF222E"/>
      </a:accent4>
      <a:accent5>
        <a:srgbClr val="6B7280"/>
      </a:accent5>
      <a:accent6>
        <a:srgbClr val="8250DF"/>
      </a:accent6>
      <a:hlink>
        <a:srgbClr val="1F6FEB"/>
      </a:hlink>
      <a:folHlink>
        <a:srgbClr val="8250DF"/>
      </a:folHlink>
    </a:clrScheme>
    <a:fontScheme name="AIEDU">
      <a:majorFont>
        <a:latin typeface="Segoe UI"/>
        <a:ea typeface="微软雅黑"/>
        <a:cs typeface=""/>
      </a:majorFont>
      <a:minorFont>
        <a:latin typeface="Segoe UI"/>
        <a:ea typeface="微软雅黑"/>
        <a:cs typeface=""/>
      </a:minorFont>
    </a:fontScheme>
    <a:fmtScheme name="AIEDU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Slides>18</Slides>
</Properties>
</file>

<file path=docProps/core.xml><?xml version="1.0" encoding="utf-8"?>
<cp:coreProperties xmlns:cp="http://schemas.openxmlformats.org/package/2006/metadata/core-properties" xmlns:dc="http://purl.org/dc/elements/1.1/">
  <dc:title>AI 冲击下，我们做了什么准备 · 全院教师会</dc:title>
  <dc:creator>人工智能与交通工程学院</dc:creator>
</cp:coreProperties>
</file>