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"/>
          <p:cNvSpPr txBox="1"/>
          <p:nvPr/>
        </p:nvSpPr>
        <p:spPr>
          <a:xfrm>
            <a:off x="720000" y="1900000"/>
            <a:ext cx="10752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Segoe UI"/>
                <a:ea typeface="微软雅黑"/>
              </a:rPr>
              <a:t>院长实验班 AI 教学系统</a:t>
            </a:r>
          </a:p>
        </p:txBody>
      </p:sp>
      <p:sp>
        <p:nvSpPr>
          <p:cNvPr id="4" name="s"/>
          <p:cNvSpPr txBox="1"/>
          <p:nvPr/>
        </p:nvSpPr>
        <p:spPr>
          <a:xfrm>
            <a:off x="720000" y="3500000"/>
            <a:ext cx="1075200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把学生的真实状态沉淀下来，把教师的经验积累起来，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把大模型放在它该在的位置上。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/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已完成可运行系统与本地演示</a:t>
            </a:r>
          </a:p>
        </p:txBody>
      </p:sp>
      <p:sp>
        <p:nvSpPr>
          <p:cNvPr id="5" name="f"/>
          <p:cNvSpPr txBox="1"/>
          <p:nvPr/>
        </p:nvSpPr>
        <p:spPr>
          <a:xfrm>
            <a:off x="720000" y="5958000"/>
            <a:ext cx="10752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7DAF7"/>
                </a:solidFill>
                <a:latin typeface="Segoe UI"/>
                <a:ea typeface="微软雅黑"/>
              </a:rPr>
              <a:t>福建理工大学 人工智能与交通工程学院 · 2026 年 8 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720000" y="50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1B1F24"/>
                </a:solidFill>
                <a:latin typeface="Segoe UI"/>
                <a:ea typeface="微软雅黑"/>
              </a:rPr>
              <a:t>这套系统要拿到的两个结果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20000" y="1020000"/>
            <a:ext cx="10752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一个针对教师，一个针对学生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570000"/>
            <a:ext cx="5226000" cy="3500000"/>
          </a:xfrm>
          <a:prstGeom prst="roundRect">
            <a:avLst>
              <a:gd name="adj" fmla="val 6000"/>
            </a:avLst>
          </a:prstGeom>
          <a:solidFill>
            <a:srgbClr val="1A7F37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0"/>
          <p:cNvSpPr txBox="1"/>
          <p:nvPr/>
        </p:nvSpPr>
        <p:spPr>
          <a:xfrm>
            <a:off x="720000" y="1830000"/>
            <a:ext cx="5226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9600" b="1" dirty="0">
                <a:solidFill>
                  <a:srgbClr val="1A7F37"/>
                </a:solidFill>
                <a:latin typeface="Segoe UI"/>
                <a:ea typeface="微软雅黑"/>
              </a:rPr>
              <a:t>0</a:t>
            </a:r>
          </a:p>
        </p:txBody>
      </p:sp>
      <p:sp>
        <p:nvSpPr>
          <p:cNvPr id="12" name="l0"/>
          <p:cNvSpPr txBox="1"/>
          <p:nvPr/>
        </p:nvSpPr>
        <p:spPr>
          <a:xfrm>
            <a:off x="720000" y="3130000"/>
            <a:ext cx="5226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教师的文档工作量</a:t>
            </a:r>
          </a:p>
        </p:txBody>
      </p:sp>
      <p:sp>
        <p:nvSpPr>
          <p:cNvPr id="13" name="t0"/>
          <p:cNvSpPr txBox="1"/>
          <p:nvPr/>
        </p:nvSpPr>
        <p:spPr>
          <a:xfrm>
            <a:off x="920000" y="3650000"/>
            <a:ext cx="4826000" cy="1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大纲 · 授课计划 · 教案 · 试卷 · 实验任务书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由系统生成，教师从「写」变成「审」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课后当天出班级诊断，不必批完一百份才知道问题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一切输出都是建议，可一键否决</a:t>
            </a:r>
          </a:p>
        </p:txBody>
      </p:sp>
      <p:sp>
        <p:nvSpPr>
          <p:cNvPr id="14" name="r14"/>
          <p:cNvSpPr/>
          <p:nvPr/>
        </p:nvSpPr>
        <p:spPr>
          <a:xfrm>
            <a:off x="6246000" y="1570000"/>
            <a:ext cx="5226000" cy="35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b1"/>
          <p:cNvSpPr txBox="1"/>
          <p:nvPr/>
        </p:nvSpPr>
        <p:spPr>
          <a:xfrm>
            <a:off x="6246000" y="1830000"/>
            <a:ext cx="5226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9600" b="1" dirty="0">
                <a:solidFill>
                  <a:srgbClr val="1F6FEB"/>
                </a:solidFill>
                <a:latin typeface="Segoe UI"/>
                <a:ea typeface="微软雅黑"/>
              </a:rPr>
              <a:t>1–2 σ</a:t>
            </a:r>
          </a:p>
        </p:txBody>
      </p:sp>
      <p:sp>
        <p:nvSpPr>
          <p:cNvPr id="16" name="l1"/>
          <p:cNvSpPr txBox="1"/>
          <p:nvPr/>
        </p:nvSpPr>
        <p:spPr>
          <a:xfrm>
            <a:off x="6246000" y="3130000"/>
            <a:ext cx="5226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学生的能力提升</a:t>
            </a:r>
          </a:p>
        </p:txBody>
      </p:sp>
      <p:sp>
        <p:nvSpPr>
          <p:cNvPr id="17" name="t1"/>
          <p:cNvSpPr txBox="1"/>
          <p:nvPr/>
        </p:nvSpPr>
        <p:spPr>
          <a:xfrm>
            <a:off x="6446000" y="3650000"/>
            <a:ext cx="4826000" cy="1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一对一辅导 + 掌握学习的效应量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Bloom, 1984：掌握学习 ≈ +1σ，一对一辅导 ≈ +2σ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过程完全个体化，出口仍是统一的 30/70 考核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陪到真正掌握，并且能证明</a:t>
            </a:r>
          </a:p>
        </p:txBody>
      </p:sp>
      <p:sp>
        <p:nvSpPr>
          <p:cNvPr id="18" name="note"/>
          <p:cNvSpPr txBox="1"/>
          <p:nvPr/>
        </p:nvSpPr>
        <p:spPr>
          <a:xfrm>
            <a:off x="720000" y="6078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280"/>
                </a:solidFill>
                <a:latin typeface="Segoe UI"/>
                <a:ea typeface="微软雅黑"/>
              </a:rPr>
              <a:t>左边是已经能做到的；右边是这条技术路线的效应量上限。本班的实测数字要到对照实验完成后才能给出——我们不拿别人的数据当自己的成绩。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为什么是 1–2 个标准差：掌握学习与一对一辅导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这不是新发现。新的是它第一次有了可负担的实现方式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3038608"/>
                <a:gridCol w="2337391"/>
                <a:gridCol w="537600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教学方式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相对常规课堂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常规班级授课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基准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一套教材、同一进度喂给所有人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掌握学习 Mastery Learning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约 +1 个标准差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没学会就不往前推，补完再走，出口标准不降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一对一辅导 + 掌握学习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约 +2 个标准差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平均水平的学生可达到常规班级前 2% 的水平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这个结论摆了四十年一直做不到，卡在成本上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——没有哪个体系请得起一人一位导师。大模型第一次让「每人一个导师」的边际成本趋近于零，这是我们现在动手的理由。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但同时出现了一个新陷阱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：无护栏的 AI 辅助会让学生把思考外包出去，作业更好看，人反而更不会（实测独立考试成绩下降约 17%）。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所以真正的问题不是「能不能一对一」，而是</a:t>
            </a: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「一对一的同时，怎么保证学的是他自己」</a:t>
            </a: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本系统就是对这个问题的回答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——下面从它的架构讲起。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3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教学闭环必然断在三处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知道学生现在会什么 → 决定接下来教什么 → 学生做 → 再看他会了什么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1344000"/>
                <a:gridCol w="4300800"/>
                <a:gridCol w="510720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断裂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表现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本系统的接法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看不见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作业批完是三天后，考试出分是一个月后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① 个性化诊断：课后当天出全班热力图与</a:t>
                      </a: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根因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动不了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知道三分之一的人卡住，一个人面对六十人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② 引导追问 + ③ 拉取式任务：过程个体化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接不上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项目做得好不好，与知识点掌握判断是两套系统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④ 代码审查：把工程问题翻译回知识点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先说不做什么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：不替代教师判断（一切输出可否决）、不追求全自动（先诊断后批改）、不掩饰不确定（数据不足就明说）。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并且</a:t>
            </a: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不生成、不留存任何针对教师的评价性数据</a:t>
            </a: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——这一条若失守，再好的系统也推不动。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4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唯一真正重要的技术判断：大模型是嘴，不是脑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学生状态由独立的、结构化的、持久的模型维护，不交给大模型推断。</a:t>
            </a:r>
          </a:p>
        </p:txBody>
      </p:sp>
      <p:graphicFrame>
        <p:nvGraphicFramePr>
          <p:cNvPr id="12" name="t12"/>
          <p:cNvGraphicFramePr/>
          <p:nvPr/>
        </p:nvGraphicFramePr>
        <p:xfrm>
          <a:off x="720000" y="275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1573463"/>
                <a:gridCol w="2491317"/>
                <a:gridCol w="4851512"/>
                <a:gridCol w="1835707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本质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属性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L3 生成层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接下来该说什么？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追问、讲解、任务、报告，由大模型承担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可替换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L2 状态层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这个学生现在会什么？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掌握度与成长轨迹，由确定性算法维护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可积累 · 核心资产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L1 图谱层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这门课由什么构成？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知识点及其依赖关系，全系统的坐标系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可积累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body"/>
          <p:cNvSpPr txBox="1"/>
          <p:nvPr/>
        </p:nvSpPr>
        <p:spPr>
          <a:xfrm>
            <a:off x="720000" y="4610000"/>
            <a:ext cx="10752000" cy="144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把状态交给大模型推断，会同时失去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可信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（换个上下文判断就变）、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可查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（说不出依据）、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可积累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（换一届学生就重新开始）。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市面上多数教学产品把两者混在一起，本质上是把系统的命运绑在某一代模型上。</a:t>
            </a:r>
          </a:p>
        </p:txBody>
      </p:sp>
      <p:sp>
        <p:nvSpPr>
          <p:cNvPr id="14" name="r14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铁律：任何可积累的东西，都不得依赖任何可替换的东西的内部实现。这条由数据库触发器 + 代码静态检查双重把关，违反即报错。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5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范式：知识由项目需求拉取，不由课程顺序推送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实验班本就是项目驱动，天然适配这一范式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700000"/>
            <a:ext cx="5176000" cy="1620000"/>
          </a:xfrm>
          <a:prstGeom prst="roundRect">
            <a:avLst>
              <a:gd name="adj" fmla="val 6000"/>
            </a:avLst>
          </a:prstGeom>
          <a:solidFill>
            <a:srgbClr val="CF222E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40000" y="1850000"/>
            <a:ext cx="4736000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CF222E"/>
                </a:solidFill>
                <a:latin typeface="Segoe UI"/>
                <a:ea typeface="微软雅黑"/>
              </a:rPr>
              <a:t>传统做法（已废弃）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按知识点依赖顺序排课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全班统一进度往下推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先学半年螺丝刀，再拆引擎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图谱 = 教学顺序表</a:t>
            </a:r>
          </a:p>
        </p:txBody>
      </p:sp>
      <p:sp>
        <p:nvSpPr>
          <p:cNvPr id="12" name="r12"/>
          <p:cNvSpPr/>
          <p:nvPr/>
        </p:nvSpPr>
        <p:spPr>
          <a:xfrm>
            <a:off x="6296000" y="1700000"/>
            <a:ext cx="5176000" cy="162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6516000" y="1850000"/>
            <a:ext cx="4736000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1A7F37"/>
                </a:solidFill>
                <a:latin typeface="Segoe UI"/>
                <a:ea typeface="微软雅黑"/>
              </a:rPr>
              <a:t>本系统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学生接到真实项目任务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缺口 = 任务所需 − 已掌握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只推最挡路的 1–2 个，学完立刻用回项目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图谱 = 按需检索索引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720000" y="3420000"/>
            <a:ext cx="10752000" cy="263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连带的产品要求：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去掉了课程进度百分比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。过程完全个体化之后，这个概念本身就不成立了。出口仍是统一的 30/70 考核——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过程个体化，出口有门槛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前提是一张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任务-知识点映射表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（当前 115 条），由导师标注、不由大模型生成——它是学分认定与能力追溯的依据。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6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现场演示：四段，各回答一个问题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400000"/>
          <a:ext cx="10752000" cy="2000000"/>
        </p:xfrm>
        <a:graphic>
          <a:graphicData uri="http://schemas.openxmlformats.org/drawingml/2006/table">
            <a:tbl>
              <a:tblPr firstRow="1"/>
              <a:tblGrid>
                <a:gridCol w="2048000"/>
                <a:gridCol w="4864000"/>
                <a:gridCol w="384000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演示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看什么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① 班级诊断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热力图 + Top3 待攻克点 + </a:t>
                      </a: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根因回溯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有没有用——看到的是病根，不是症状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② 拉取式缺口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选一个项目任务，系统只推最挡路的 1–2 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跟别人有什么不同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③ 引导追问与降级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连点三次「我卡住了」，看降级留痕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会不会把学生教废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④ 把大模型接上去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结论逐字节不变，只有措辞变了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三年后还在不在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660000"/>
            <a:ext cx="10752000" cy="23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排序不是按错误率，而是低掌握度 × 挡路度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——一个所有人都错、但不挡任何路的知识点，不该占用下节课的时间。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④ 是最关键的一段：换掉「嘴」，判断一个字都不会变，因为这些判断本来就不是模型做的。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全程不需要联网、不需要 API Key。没有 Key 时用本机假底座演示「接上大模型」，效果相同。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7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知识宇宙：让「病根」变成看得见的一条光路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183 个知识点、224 条依赖边在三维空间里展开；点一个薄弱点按【根因回溯】，系统沿依赖边把整条链点亮并框住镜头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913" y="1700000"/>
            <a:ext cx="7314174" cy="425800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1" name="body"/>
          <p:cNvSpPr txBox="1"/>
          <p:nvPr/>
        </p:nvSpPr>
        <p:spPr>
          <a:xfrm>
            <a:off x="720000" y="6158000"/>
            <a:ext cx="10752000" cy="-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颜色 = 掌握度，球体大小 = 挡路度；琥珀色光环 = 该复习了，青绿描边 = 已验证掌握。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图中蓝色那条链就是根因回溯的结果：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反向传播算法 ← … ← 线性回归模型形式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，与诊断报告走同一个算法、同一份图谱结构。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渲染壳没法单测，但布局物理、色阶、降噪策略抽成了纯逻辑模块，17 个用例覆盖——包括「依赖深度与高度的相关系数必须大于 0.9」这样的断言。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8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一次做对不算掌握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达标只是「暂定掌握」。这就是第 3 页那个「掌握学习」落到实处的样子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1684048"/>
                <a:gridCol w="4404433"/>
                <a:gridCol w="4663518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不问的后果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本系统的答法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验证了吗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当堂练到做对就记为掌握，下周全忘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两次做对间隔 ≥ 7 天才算「已验证掌握」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还在吗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学期初的达标一直挂着，无人回访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按遗忘曲线衰减，掉到复检线以下进「该复习了」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自己挣来的吗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把认知外包出来的正确率当成学习成效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区分提示前/提示后做对，输出无提示做对率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演示数据实测：全班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67 个达标点里，只有 24 个经得起隔周再考（验证率 36%）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，另有 50 个已掉到复检线以下。这个数字本身，就是对「达标即掌握」的一次证伪。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提示依赖度是诊断指标，禁止作为优化目标、激励对象或排名依据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——指标一旦被当成目标就会被优化，然后失去意义。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关键约束：衰减只算不写。把遗忘写回掌握度，它就不再等于事件流折叠的结果，可审计性立刻塌掉。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9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它如何随时间变强 · 以及一个同行印证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4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2750511"/>
                <a:gridCol w="8001488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三类持续增厚的资产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增长方式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知识图谱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一门课建好永久复用，每年新增一到两门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错误模式库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每运行一届，沉淀一批真实错误样本与归因——最有价值也最容易被忽略的一类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学生状态历史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每届完整成长轨迹结构化保留，反过来改进培养方案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260000"/>
            <a:ext cx="10752000" cy="27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一位从教二十年的教师，最不可替代的能力不是讲得清楚，而是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知道学生会在哪里犯错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。这份经验从未被记录，教师退休即消失。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同行印证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：2026 年 7 月 28 日吴恩达成立 LearnVector，Coursera 战略投资 1 亿美元。其三条公开主张中两条与我们此前的架构铁律一致，第三条「陪到你真正掌握并且能证明」，就是第 9 页那三个问题。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方向上我们与最好的团队一致；</a:t>
            </a: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差距在资源与分发，不在判断力</a:t>
            </a: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。他们的产品预计 2027 年初面世，我们现在就要上课。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完整研判（吸收什么、刻意不跟什么）见 docs/learnvector-研判.md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10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现在做到了什么（可现场核对）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400000"/>
          <a:ext cx="10752000" cy="2800000"/>
        </p:xfrm>
        <a:graphic>
          <a:graphicData uri="http://schemas.openxmlformats.org/drawingml/2006/table">
            <a:tbl>
              <a:tblPr firstRow="1"/>
              <a:tblGrid>
                <a:gridCol w="3665454"/>
                <a:gridCol w="2199272"/>
                <a:gridCol w="4887272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 / 依赖边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183 / 224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试点课程《机器学习原理与应用》，导入强制环检测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 / 任务 / 任务-知识点映射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 / 35 / 115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AGV 与机器视觉，映射由导师标注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虚拟班级 / 学习事件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60 人 / 4874 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全部经追踪器写入，</a:t>
                      </a: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重算校验 60/60 一致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错误模式 / 原始实例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8 / 57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从第一天开始积累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项目信号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1416 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由适配器归一化为五类标准信号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自动化测试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99 个用例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含架构铁律静态检查与前端布局物理，全部通过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4460000"/>
            <a:ext cx="10752000" cy="15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掌握度不是模型说的，是事件算出来的。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事件流只追加，数据库层面禁止修改与删除；任何人都可以拿走事件流自己重算一遍。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开源地址：github.com/codesoldier99/AI_EDU　　克隆后两条命令即可跑起来，无需数据库服务、无需网络、无需 API Key。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11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恳请各位拍板，以及下一步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参数已全部做成配置，但初值需要教学经验给定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7751441"/>
                <a:gridCol w="3000558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需要各位定的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当前初值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知识点拆到多细？一门课 300 还是 500 个？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183（偏粗）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诊断报告里最想第一时间看到哪几件事？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六项，可增删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掌握度低于多少判定「未掌握」；追问几次后降级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0.75；3 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两次做对相隔多少天才算「已验证掌握」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7 天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指导项目时，你凭哪些迹象判断一个学生真的懂了？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待各位给出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4360000"/>
            <a:ext cx="10752000" cy="16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近期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：试点课程知识点细化到 300–500 个；接入第一门课的真实作业数据；首批 2 个项目的任务-知识点映射由导师确认。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战略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：全球仅极少数教学系统有随机对照试验级证据，中文工科场景近乎空白。从现在起按可发表标准采集——实验班 vs 对照组，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延迟后测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作主指标。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第 2 页右边那个「1–2 σ」，要靠这件事从理论上限变成本班的实测数字。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评测指标的选择本身就是架构决策：主指标必须是延迟后测与迁移任务，不能是当场正确率——否则会训练出让学生越学越弱的系统。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12 /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IEDU">
  <a:themeElements>
    <a:clrScheme name="AIEDU">
      <a:dk1>
        <a:srgbClr val="1B1F24"/>
      </a:dk1>
      <a:lt1>
        <a:srgbClr val="FFFFFF"/>
      </a:lt1>
      <a:dk2>
        <a:srgbClr val="333333"/>
      </a:dk2>
      <a:lt2>
        <a:srgbClr val="F2F5F9"/>
      </a:lt2>
      <a:accent1>
        <a:srgbClr val="1F6FEB"/>
      </a:accent1>
      <a:accent2>
        <a:srgbClr val="1A7F37"/>
      </a:accent2>
      <a:accent3>
        <a:srgbClr val="BF8700"/>
      </a:accent3>
      <a:accent4>
        <a:srgbClr val="CF222E"/>
      </a:accent4>
      <a:accent5>
        <a:srgbClr val="6B7280"/>
      </a:accent5>
      <a:accent6>
        <a:srgbClr val="8250DF"/>
      </a:accent6>
      <a:hlink>
        <a:srgbClr val="1F6FEB"/>
      </a:hlink>
      <a:folHlink>
        <a:srgbClr val="8250DF"/>
      </a:folHlink>
    </a:clrScheme>
    <a:fontScheme name="AIEDU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AIED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12</Slides>
</Properties>
</file>

<file path=docProps/core.xml><?xml version="1.0" encoding="utf-8"?>
<cp:coreProperties xmlns:cp="http://schemas.openxmlformats.org/package/2006/metadata/core-properties" xmlns:dc="http://purl.org/dc/elements/1.1/">
  <dc:title>院长实验班 AI 教学系统 · 汇报</dc:title>
  <dc:creator>人工智能与交通工程学院</dc:creator>
</cp:coreProperties>
</file>