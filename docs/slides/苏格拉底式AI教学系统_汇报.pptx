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"/>
          <p:cNvSpPr txBox="1"/>
          <p:nvPr/>
        </p:nvSpPr>
        <p:spPr>
          <a:xfrm>
            <a:off x="720000" y="1900000"/>
            <a:ext cx="10752000" cy="1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4400" b="1" dirty="0">
                <a:solidFill>
                  <a:srgbClr val="FFFFFF"/>
                </a:solidFill>
                <a:latin typeface="Segoe UI"/>
                <a:ea typeface="微软雅黑"/>
              </a:rPr>
              <a:t>苏格拉底式 AI 教学系统</a:t>
            </a:r>
          </a:p>
        </p:txBody>
      </p:sp>
      <p:sp>
        <p:nvSpPr>
          <p:cNvPr id="4" name="s"/>
          <p:cNvSpPr txBox="1"/>
          <p:nvPr/>
        </p:nvSpPr>
        <p:spPr>
          <a:xfrm>
            <a:off x="720000" y="3500000"/>
            <a:ext cx="10752000" cy="1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260"/>
              </a:spcBef>
              <a:buNone/>
            </a:pPr>
            <a:r>
              <a:rPr lang="zh-CN" altLang="en-US" sz="1900" dirty="0">
                <a:solidFill>
                  <a:srgbClr val="E8F0FE"/>
                </a:solidFill>
                <a:latin typeface="Segoe UI"/>
                <a:ea typeface="微软雅黑"/>
              </a:rPr>
              <a:t>把学生的真实状态沉淀下来，把教师的经验积累起来，</a:t>
            </a:r>
          </a:p>
          <a:p>
            <a:pPr lvl="0" marL="0" indent="0" algn="l">
              <a:lnSpc>
                <a:spcPct val="118000"/>
              </a:lnSpc>
              <a:spcBef>
                <a:spcPts val="260"/>
              </a:spcBef>
              <a:buNone/>
            </a:pPr>
            <a:r>
              <a:rPr lang="zh-CN" altLang="en-US" sz="1900" dirty="0">
                <a:solidFill>
                  <a:srgbClr val="E8F0FE"/>
                </a:solidFill>
                <a:latin typeface="Segoe UI"/>
                <a:ea typeface="微软雅黑"/>
              </a:rPr>
              <a:t>把大模型放在它该在的位置上。</a:t>
            </a:r>
          </a:p>
          <a:p>
            <a:pPr lvl="0" marL="0" indent="0" algn="l">
              <a:lnSpc>
                <a:spcPct val="118000"/>
              </a:lnSpc>
              <a:spcBef>
                <a:spcPts val="260"/>
              </a:spcBef>
              <a:buNone/>
            </a:pPr>
            <a:r>
              <a:rPr lang="zh-CN" altLang="en-US" sz="1900" dirty="0">
                <a:solidFill>
                  <a:srgbClr val="E8F0FE"/>
                </a:solidFill>
                <a:latin typeface="Segoe UI"/>
                <a:ea typeface="微软雅黑"/>
              </a:rPr>
              <a:t/>
            </a:r>
          </a:p>
          <a:p>
            <a:pPr lvl="0" marL="0" indent="0" algn="l">
              <a:lnSpc>
                <a:spcPct val="118000"/>
              </a:lnSpc>
              <a:spcBef>
                <a:spcPts val="260"/>
              </a:spcBef>
              <a:buNone/>
            </a:pPr>
            <a:r>
              <a:rPr lang="zh-CN" altLang="en-US" sz="1900" dirty="0">
                <a:solidFill>
                  <a:srgbClr val="E8F0FE"/>
                </a:solidFill>
                <a:latin typeface="Segoe UI"/>
                <a:ea typeface="微软雅黑"/>
              </a:rPr>
              <a:t>院长工作室实验班 · 已完成可运行系统与本地演示</a:t>
            </a:r>
          </a:p>
        </p:txBody>
      </p:sp>
      <p:sp>
        <p:nvSpPr>
          <p:cNvPr id="5" name="f"/>
          <p:cNvSpPr txBox="1"/>
          <p:nvPr/>
        </p:nvSpPr>
        <p:spPr>
          <a:xfrm>
            <a:off x="720000" y="5958000"/>
            <a:ext cx="10752000" cy="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C7DAF7"/>
                </a:solidFill>
                <a:latin typeface="Segoe UI"/>
                <a:ea typeface="微软雅黑"/>
              </a:rPr>
              <a:t>福建理工大学 人工智能与交通工程学院 · 2026 年 8 月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000"/>
            </a:avLst>
          </a:prstGeom>
          <a:solidFill>
            <a:srgbClr val="F7F9FC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720000" y="2500000"/>
            <a:ext cx="180000" cy="90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"/>
          <p:cNvSpPr txBox="1"/>
          <p:nvPr/>
        </p:nvSpPr>
        <p:spPr>
          <a:xfrm>
            <a:off x="1100000" y="2500000"/>
            <a:ext cx="107520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solidFill>
                  <a:srgbClr val="1B1F24"/>
                </a:solidFill>
                <a:latin typeface="Segoe UI"/>
                <a:ea typeface="微软雅黑"/>
              </a:rPr>
              <a:t>一、我们到底要解决什么问题</a:t>
            </a:r>
          </a:p>
        </p:txBody>
      </p:sp>
      <p:sp>
        <p:nvSpPr>
          <p:cNvPr id="5" name="s"/>
          <p:cNvSpPr txBox="1"/>
          <p:nvPr/>
        </p:nvSpPr>
        <p:spPr>
          <a:xfrm>
            <a:off x="1100000" y="3550000"/>
            <a:ext cx="10372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900" dirty="0">
                <a:solidFill>
                  <a:srgbClr val="6B7280"/>
                </a:solidFill>
                <a:latin typeface="Segoe UI"/>
                <a:ea typeface="微软雅黑"/>
              </a:rPr>
              <a:t>不谈技术清单，先谈教学闭环断在哪里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任何教学活动都是一个闭环，而它必然断在三处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知道学生现在会什么 → 决定接下来教什么 → 学生做 → 再看他会了什么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700000"/>
          <a:ext cx="10752000" cy="1600000"/>
        </p:xfrm>
        <a:graphic>
          <a:graphicData uri="http://schemas.openxmlformats.org/drawingml/2006/table">
            <a:tbl>
              <a:tblPr firstRow="1"/>
              <a:tblGrid>
                <a:gridCol w="1536000"/>
                <a:gridCol w="4468363"/>
                <a:gridCol w="4747636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断裂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表现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后果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看不见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作业批完是三天后，考试出分是一个月后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等看见问题，课程已经推过去了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动不了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知道三分之一的人卡住，一个人面对六十人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只能按统一进度继续讲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接不上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项目做得好不好，与知识点掌握判断是两套系统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学生在项目里暴露的问题，不会修正对他的判断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"/>
          <p:cNvSpPr txBox="1"/>
          <p:nvPr/>
        </p:nvSpPr>
        <p:spPr>
          <a:xfrm>
            <a:off x="720000" y="3560000"/>
            <a:ext cx="10752000" cy="249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本系统的全部使命，就是接上这三处断裂。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凡不服务于此的功能，无论技术上多先进，都排在后面。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3 / 32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先说清楚：系统不做什么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明确不做什么，与明确做什么同样重要。以下三条是硬约束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720000" y="1700000"/>
            <a:ext cx="10752000" cy="435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不替代教师的判断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。一切输出都是建议，可采纳、可修改、可否决。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否决记录用于改进系统，</a:t>
            </a:r>
            <a:r>
              <a:rPr lang="zh-CN" altLang="en-US" sz="1600" b="1" dirty="0">
                <a:solidFill>
                  <a:srgbClr val="4A5561"/>
                </a:solidFill>
                <a:latin typeface="Segoe UI"/>
                <a:ea typeface="微软雅黑"/>
              </a:rPr>
              <a:t>不用于评价教师</a:t>
            </a: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。系统不生成、不留存任何针对教师的评价性数据。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不追求全自动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。先做诊断，后做批改。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教师批完一百份作业，真正有用的信息往往只有一句话——某道题半数人做错，原因是混淆了两个概念。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系统若能直接给出这句话，价值远高于替他打分。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不掩饰不确定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。数据不足时明说数据不足，不做精确性伪装。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开学前几周判断必然不准；与其猜一个数字，不如坦白。教师对系统的信任一旦失去，很难重建。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4 / 32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000"/>
            </a:avLst>
          </a:prstGeom>
          <a:solidFill>
            <a:srgbClr val="F7F9FC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720000" y="2500000"/>
            <a:ext cx="180000" cy="90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"/>
          <p:cNvSpPr txBox="1"/>
          <p:nvPr/>
        </p:nvSpPr>
        <p:spPr>
          <a:xfrm>
            <a:off x="1100000" y="2500000"/>
            <a:ext cx="107520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solidFill>
                  <a:srgbClr val="1B1F24"/>
                </a:solidFill>
                <a:latin typeface="Segoe UI"/>
                <a:ea typeface="微软雅黑"/>
              </a:rPr>
              <a:t>二、唯一真正重要的技术判断</a:t>
            </a:r>
          </a:p>
        </p:txBody>
      </p:sp>
      <p:sp>
        <p:nvSpPr>
          <p:cNvPr id="5" name="s"/>
          <p:cNvSpPr txBox="1"/>
          <p:nvPr/>
        </p:nvSpPr>
        <p:spPr>
          <a:xfrm>
            <a:off x="1100000" y="3550000"/>
            <a:ext cx="10372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900" dirty="0">
                <a:solidFill>
                  <a:srgbClr val="6B7280"/>
                </a:solidFill>
                <a:latin typeface="Segoe UI"/>
                <a:ea typeface="微软雅黑"/>
              </a:rPr>
              <a:t>它决定这套系统能活十年，还是一年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大模型是嘴，不是脑</a:t>
            </a:r>
          </a:p>
        </p:txBody>
      </p:sp>
      <p:sp>
        <p:nvSpPr>
          <p:cNvPr id="10" name="r10"/>
          <p:cNvSpPr/>
          <p:nvPr/>
        </p:nvSpPr>
        <p:spPr>
          <a:xfrm>
            <a:off x="720000" y="1400000"/>
            <a:ext cx="10752000" cy="1100000"/>
          </a:xfrm>
          <a:prstGeom prst="roundRect">
            <a:avLst>
              <a:gd name="adj" fmla="val 6000"/>
            </a:avLst>
          </a:prstGeom>
          <a:solidFill>
            <a:srgbClr val="1F6FEB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q"/>
          <p:cNvSpPr txBox="1"/>
          <p:nvPr/>
        </p:nvSpPr>
        <p:spPr>
          <a:xfrm>
            <a:off x="1020000" y="1580000"/>
            <a:ext cx="10152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200" b="1" dirty="0">
                <a:solidFill>
                  <a:srgbClr val="1F6FEB"/>
                </a:solidFill>
                <a:latin typeface="Segoe UI"/>
                <a:ea typeface="微软雅黑"/>
              </a:rPr>
              <a:t>学生状态必须由独立的、结构化的、持久的模型维护，不交给大模型推断。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720000" y="2750000"/>
            <a:ext cx="10752000" cy="330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系统中存在一个独立的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学生状态对象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：每个学生在每个知识点上的掌握程度、在每个能力维度上的水平，以及这些状态的历史变化。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这个状态由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确定性算法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维护。大模型只做一件事：拿到状态之后，把该说的话说好。</a:t>
            </a:r>
          </a:p>
        </p:txBody>
      </p:sp>
      <p:sp>
        <p:nvSpPr>
          <p:cNvPr id="13" name="r13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这不是一句口号——本次汇报的第 4 个演示会当场把大模型接上去，让各位看结论变没变。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6 / 32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把状态交给大模型推断，会同时失去三样东西</a:t>
            </a:r>
          </a:p>
        </p:txBody>
      </p:sp>
      <p:sp>
        <p:nvSpPr>
          <p:cNvPr id="10" name="r10"/>
          <p:cNvSpPr/>
          <p:nvPr/>
        </p:nvSpPr>
        <p:spPr>
          <a:xfrm>
            <a:off x="720000" y="1400000"/>
            <a:ext cx="5176000" cy="1290000"/>
          </a:xfrm>
          <a:prstGeom prst="roundRect">
            <a:avLst>
              <a:gd name="adj" fmla="val 6000"/>
            </a:avLst>
          </a:prstGeom>
          <a:solidFill>
            <a:srgbClr val="CF222E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c0"/>
          <p:cNvSpPr txBox="1"/>
          <p:nvPr/>
        </p:nvSpPr>
        <p:spPr>
          <a:xfrm>
            <a:off x="940000" y="1550000"/>
            <a:ext cx="4736000" cy="129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700" b="1" dirty="0">
                <a:solidFill>
                  <a:srgbClr val="CF222E"/>
                </a:solidFill>
                <a:latin typeface="Segoe UI"/>
                <a:ea typeface="微软雅黑"/>
              </a:rPr>
              <a:t>混在一起 → 失去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b="1" dirty="0">
                <a:solidFill>
                  <a:srgbClr val="333333"/>
                </a:solidFill>
                <a:latin typeface="Segoe UI"/>
                <a:ea typeface="微软雅黑"/>
              </a:rPr>
              <a:t>可信</a:t>
            </a: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：换个对话上下文，判断就变了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b="1" dirty="0">
                <a:solidFill>
                  <a:srgbClr val="333333"/>
                </a:solidFill>
                <a:latin typeface="Segoe UI"/>
                <a:ea typeface="微软雅黑"/>
              </a:rPr>
              <a:t>可查</a:t>
            </a: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：说不出依据，教师无从核对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b="1" dirty="0">
                <a:solidFill>
                  <a:srgbClr val="333333"/>
                </a:solidFill>
                <a:latin typeface="Segoe UI"/>
                <a:ea typeface="微软雅黑"/>
              </a:rPr>
              <a:t>可积累</a:t>
            </a: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：换一届学生、换一个模型，系统就重新开始</a:t>
            </a:r>
          </a:p>
        </p:txBody>
      </p:sp>
      <p:sp>
        <p:nvSpPr>
          <p:cNvPr id="12" name="r12"/>
          <p:cNvSpPr/>
          <p:nvPr/>
        </p:nvSpPr>
        <p:spPr>
          <a:xfrm>
            <a:off x="6296000" y="1400000"/>
            <a:ext cx="5176000" cy="1290000"/>
          </a:xfrm>
          <a:prstGeom prst="roundRect">
            <a:avLst>
              <a:gd name="adj" fmla="val 6000"/>
            </a:avLst>
          </a:prstGeom>
          <a:solidFill>
            <a:srgbClr val="1A7F37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1"/>
          <p:cNvSpPr txBox="1"/>
          <p:nvPr/>
        </p:nvSpPr>
        <p:spPr>
          <a:xfrm>
            <a:off x="6516000" y="1550000"/>
            <a:ext cx="4736000" cy="129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700" b="1" dirty="0">
                <a:solidFill>
                  <a:srgbClr val="1A7F37"/>
                </a:solidFill>
                <a:latin typeface="Segoe UI"/>
                <a:ea typeface="微软雅黑"/>
              </a:rPr>
              <a:t>分开之后 → 得到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大模型是</a:t>
            </a:r>
            <a:r>
              <a:rPr lang="zh-CN" altLang="en-US" sz="1500" b="1" dirty="0">
                <a:solidFill>
                  <a:srgbClr val="333333"/>
                </a:solidFill>
                <a:latin typeface="Segoe UI"/>
                <a:ea typeface="微软雅黑"/>
              </a:rPr>
              <a:t>可替换件</a:t>
            </a: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，明年换更强的即可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图谱与状态是</a:t>
            </a:r>
            <a:r>
              <a:rPr lang="zh-CN" altLang="en-US" sz="1500" b="1" dirty="0">
                <a:solidFill>
                  <a:srgbClr val="333333"/>
                </a:solidFill>
                <a:latin typeface="Segoe UI"/>
                <a:ea typeface="微软雅黑"/>
              </a:rPr>
              <a:t>沉淀资产</a:t>
            </a: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，只会越用越厚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两者更新节奏</a:t>
            </a:r>
            <a:r>
              <a:rPr lang="zh-CN" altLang="en-US" sz="1500" b="1" dirty="0">
                <a:solidFill>
                  <a:srgbClr val="333333"/>
                </a:solidFill>
                <a:latin typeface="Segoe UI"/>
                <a:ea typeface="微软雅黑"/>
              </a:rPr>
              <a:t>完全解耦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720000" y="2790000"/>
            <a:ext cx="10752000" cy="326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市面上多数教学产品把两者混在一起，本质上是把系统的命运绑在某一代模型上。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这是它们做不长的根本原因，也是本方案与之最重要的区别。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7 / 32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由此，系统自然分为三层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层间只有一条规矩：生成层可以读状态，不能改状态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700000"/>
          <a:ext cx="10752000" cy="1600000"/>
        </p:xfrm>
        <a:graphic>
          <a:graphicData uri="http://schemas.openxmlformats.org/drawingml/2006/table">
            <a:tbl>
              <a:tblPr firstRow="1"/>
              <a:tblGrid>
                <a:gridCol w="1573463"/>
                <a:gridCol w="2491317"/>
                <a:gridCol w="4720390"/>
                <a:gridCol w="1966829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层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回答的问题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本质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属性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L3 生成层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接下来该说什么？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追问、讲解、任务、报告，由大模型承担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可替换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L2 状态层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这个学生现在会什么？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每人在坐标系上的位置与移动轨迹，由算法维护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可积累 · 核心资产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L1 图谱层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这门课由什么构成？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知识点及其依赖关系，是全系统的坐标系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可积累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"/>
          <p:cNvSpPr txBox="1"/>
          <p:nvPr/>
        </p:nvSpPr>
        <p:spPr>
          <a:xfrm>
            <a:off x="720000" y="3560000"/>
            <a:ext cx="10752000" cy="249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所有状态变化必须由算法依据真实行为产生。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这条规矩若破了，前面所有论证都不成立。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在本系统里它不是靠自觉：数据库触发器 + 代码静态检查双重把关，违反即报错。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8 / 32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五个模块不是并列的工具，是一条链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诊断 → 引导 → 任务 → 审查 → 画像 →（回到诊断）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700000"/>
          <a:ext cx="10752000" cy="2400000"/>
        </p:xfrm>
        <a:graphic>
          <a:graphicData uri="http://schemas.openxmlformats.org/drawingml/2006/table">
            <a:tbl>
              <a:tblPr firstRow="1"/>
              <a:tblGrid>
                <a:gridCol w="1536000"/>
                <a:gridCol w="2792727"/>
                <a:gridCol w="6423272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模块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在链条中的作用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知道在哪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① 个性化学习诊断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定位学生此刻的位置，尤其是回溯出真正的病根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推一把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② 苏格拉底式引导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从他已会的最近一点切入追问，让他自己走过去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做起来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③ 项目任务管理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把知识放进真实任务，任务难度略高于当前水平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做得对吗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④ 代码与文档审查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从产出反查理解，把工程问题翻译回知识点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长期怎样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⑤ 学习成效画像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把单次循环拉长为成长轨迹，供导师与分流决策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11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④ 审查是最容易被低估的一环——它是把实践信号翻回知识判断的唯一通道。少了它，项目与课程仍是两张皮。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9 / 32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000"/>
            </a:avLst>
          </a:prstGeom>
          <a:solidFill>
            <a:srgbClr val="F7F9FC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720000" y="2500000"/>
            <a:ext cx="180000" cy="90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"/>
          <p:cNvSpPr txBox="1"/>
          <p:nvPr/>
        </p:nvSpPr>
        <p:spPr>
          <a:xfrm>
            <a:off x="1100000" y="2500000"/>
            <a:ext cx="107520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solidFill>
                  <a:srgbClr val="1B1F24"/>
                </a:solidFill>
                <a:latin typeface="Segoe UI"/>
                <a:ea typeface="微软雅黑"/>
              </a:rPr>
              <a:t>三、现场演示</a:t>
            </a:r>
          </a:p>
        </p:txBody>
      </p:sp>
      <p:sp>
        <p:nvSpPr>
          <p:cNvPr id="5" name="s"/>
          <p:cNvSpPr txBox="1"/>
          <p:nvPr/>
        </p:nvSpPr>
        <p:spPr>
          <a:xfrm>
            <a:off x="1100000" y="3550000"/>
            <a:ext cx="10372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900" dirty="0">
                <a:solidFill>
                  <a:srgbClr val="6B7280"/>
                </a:solidFill>
                <a:latin typeface="Segoe UI"/>
                <a:ea typeface="微软雅黑"/>
              </a:rPr>
              <a:t>四段演示，对应三处断裂 + 一个架构主张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演示一 · 接上「看不见」：班级诊断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教师端 → 班级诊断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720000" y="1700000"/>
            <a:ext cx="10752000" cy="435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全班知识点掌握热力图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：一眼看到红色区域在哪，可下钻到任意知识点。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Top 3 待攻克点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——排序不是按错误率，而是 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低掌握度 × 挡路度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一个所有人都错、但不挡任何路的边缘知识点，不该占用下节课的时间。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每一条都带根因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：系统会说"真正卡住的是链式法则，不是反向传播"。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需个别介入的学生名单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，证据不足的会标注"数据不足，仅供参考"。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追问降级热点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：系统被迫给出提示的地方，就是该重讲的地方。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每一条建议旁边都有"否决"按钮。</a:t>
            </a:r>
          </a:p>
        </p:txBody>
      </p:sp>
      <p:sp>
        <p:nvSpPr>
          <p:cNvPr id="11" name="r11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这就是接上第一处断裂：课后当天看到全班卡在哪里，而且看到的是病根，不是症状。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11 / 32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根因回溯：纯大模型方案做不可靠的那一步</a:t>
            </a:r>
          </a:p>
        </p:txBody>
      </p:sp>
      <p:sp>
        <p:nvSpPr>
          <p:cNvPr id="10" name="r10"/>
          <p:cNvSpPr/>
          <p:nvPr/>
        </p:nvSpPr>
        <p:spPr>
          <a:xfrm>
            <a:off x="720000" y="1400000"/>
            <a:ext cx="10752000" cy="1100000"/>
          </a:xfrm>
          <a:prstGeom prst="roundRect">
            <a:avLst>
              <a:gd name="adj" fmla="val 6000"/>
            </a:avLst>
          </a:prstGeom>
          <a:solidFill>
            <a:srgbClr val="1F6FEB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q"/>
          <p:cNvSpPr txBox="1"/>
          <p:nvPr/>
        </p:nvSpPr>
        <p:spPr>
          <a:xfrm>
            <a:off x="1020000" y="1580000"/>
            <a:ext cx="10152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200" b="1" dirty="0">
                <a:solidFill>
                  <a:srgbClr val="1F6FEB"/>
                </a:solidFill>
                <a:latin typeface="Segoe UI"/>
                <a:ea typeface="微软雅黑"/>
              </a:rPr>
              <a:t>反向传播出错 → 沿依赖边回溯 → 真正的病根在链式法则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720000" y="2750000"/>
            <a:ext cx="10752000" cy="330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算法：对每个掌握度低于阈值的知识点，沿前置依赖边反向广度搜索；只沿"同样未掌握"的链条继续；返回最深的那个节点。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大模型可以说"可能是链式法则没学好"，但它说不出——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"这个班里有多少人的反向传播错误可以归到同一个前置点上"，也说不出这个结论的依据是什么。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这一步依赖 L1 图谱的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显式依赖结构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：当前试点课程 183 个知识点、224 条依赖边，导入时强制环检测。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12 / 32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演示二 · 接上「动不了」：拉取式学习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学生端 → 拉取式任务 → 选一个项目任务 → 算缺口</a:t>
            </a:r>
          </a:p>
        </p:txBody>
      </p:sp>
      <p:sp>
        <p:nvSpPr>
          <p:cNvPr id="10" name="r10"/>
          <p:cNvSpPr/>
          <p:nvPr/>
        </p:nvSpPr>
        <p:spPr>
          <a:xfrm>
            <a:off x="720000" y="1700000"/>
            <a:ext cx="5176000" cy="1620000"/>
          </a:xfrm>
          <a:prstGeom prst="roundRect">
            <a:avLst>
              <a:gd name="adj" fmla="val 6000"/>
            </a:avLst>
          </a:prstGeom>
          <a:solidFill>
            <a:srgbClr val="CF222E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c0"/>
          <p:cNvSpPr txBox="1"/>
          <p:nvPr/>
        </p:nvSpPr>
        <p:spPr>
          <a:xfrm>
            <a:off x="940000" y="1850000"/>
            <a:ext cx="4736000" cy="1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700" b="1" dirty="0">
                <a:solidFill>
                  <a:srgbClr val="CF222E"/>
                </a:solidFill>
                <a:latin typeface="Segoe UI"/>
                <a:ea typeface="微软雅黑"/>
              </a:rPr>
              <a:t>传统做法（已废弃）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按知识点依赖顺序排课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全班统一进度往下推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先学半年螺丝刀，再拆引擎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图谱 = 教学顺序表</a:t>
            </a:r>
          </a:p>
        </p:txBody>
      </p:sp>
      <p:sp>
        <p:nvSpPr>
          <p:cNvPr id="12" name="r12"/>
          <p:cNvSpPr/>
          <p:nvPr/>
        </p:nvSpPr>
        <p:spPr>
          <a:xfrm>
            <a:off x="6296000" y="1700000"/>
            <a:ext cx="5176000" cy="1620000"/>
          </a:xfrm>
          <a:prstGeom prst="roundRect">
            <a:avLst>
              <a:gd name="adj" fmla="val 6000"/>
            </a:avLst>
          </a:prstGeom>
          <a:solidFill>
            <a:srgbClr val="1A7F37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1"/>
          <p:cNvSpPr txBox="1"/>
          <p:nvPr/>
        </p:nvSpPr>
        <p:spPr>
          <a:xfrm>
            <a:off x="6516000" y="1850000"/>
            <a:ext cx="4736000" cy="1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700" b="1" dirty="0">
                <a:solidFill>
                  <a:srgbClr val="1A7F37"/>
                </a:solidFill>
                <a:latin typeface="Segoe UI"/>
                <a:ea typeface="微软雅黑"/>
              </a:rPr>
              <a:t>本系统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学生接到项目任务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缺口 = 任务所需 − 已掌握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只推此刻最挡路的 1–2 个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图谱 = 按需检索索引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720000" y="3420000"/>
            <a:ext cx="10752000" cy="263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拓扑序仍然保留，但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只用于计算缺口内部的先后，不用于安排全员进度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13 / 32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缺口计算实录（确定性输出，不经大模型）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命令行：make gap STUDENT=1 TASK=T-AGV-3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700000"/>
          <a:ext cx="10752000" cy="1600000"/>
        </p:xfrm>
        <a:graphic>
          <a:graphicData uri="http://schemas.openxmlformats.org/drawingml/2006/table">
            <a:tbl>
              <a:tblPr firstRow="1"/>
              <a:tblGrid>
                <a:gridCol w="4649513"/>
                <a:gridCol w="1743567"/>
                <a:gridCol w="1743567"/>
                <a:gridCol w="2615351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缺口知识点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掌握度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挡路度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缺口内前置卡点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反向传播算法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0.214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14.0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卷积操作与局部感受野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0.000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2.5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池化与平移不变性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0.000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2.0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1 个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"/>
          <p:cNvSpPr txBox="1"/>
          <p:nvPr/>
        </p:nvSpPr>
        <p:spPr>
          <a:xfrm>
            <a:off x="720000" y="3560000"/>
            <a:ext cx="10752000" cy="249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本次只推前两个。排序规则：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能立刻学的优先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 → 挡路度高的优先 → 拓扑序。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推一个学生此刻还学不动的知识点，等于什么也没推。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连带的产品要求：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去掉了课程进度百分比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。过程完全个体化之后，这个概念本身就不成立了。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出口仍是统一的 30/70 考核——过程个体化，出口有门槛。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14 / 32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演示三 · 引导追问：不给答案，但也不放任挫败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学生端 → 引导追问 → 连点三次「我卡住了」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720000" y="1700000"/>
            <a:ext cx="10752000" cy="435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追问策略由 L2 状态确定三件事，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不交给大模型自由发挥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起点——从学生已掌握的最近前置点切入；深度——掌握度越低拆得越细；类型——概念澄清 / 反例质疑 / 类比迁移 / 条件变更。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所有追问必须基于课程知识库检索结果生成，禁止脱离教材自由发挥。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降级机制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：关键提示 → 解题框架 → 完整解析并标记教师介入。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每一次降级都写进事件流（当前演示数据里有 24 次），回到教师端就是刚才看到的降级热点。</a:t>
            </a:r>
          </a:p>
        </p:txBody>
      </p:sp>
      <p:sp>
        <p:nvSpPr>
          <p:cNvPr id="11" name="r11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证据：不加限制的 AI 辅助会使学生独立考试成绩下降约 17%，引导式提示则显著更优。所以降级是为了防止挫败感摧毁动机，不是为了让学生轻松。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15 / 32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接上「接不上」：审查是唯一的翻译通道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第一级静态分析（确定性） → 第二级大模型评审 → 关联知识点回写 L2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700000"/>
          <a:ext cx="10752000" cy="2000000"/>
        </p:xfrm>
        <a:graphic>
          <a:graphicData uri="http://schemas.openxmlformats.org/drawingml/2006/table">
            <a:tbl>
              <a:tblPr firstRow="1"/>
              <a:tblGrid>
                <a:gridCol w="4032000"/>
                <a:gridCol w="4300800"/>
                <a:gridCol w="2419200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代码里的问题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能否可靠映射到知识点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处理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划分数据集之前就 fit 了预处理器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能 → 数据泄漏的识别与防范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教师采纳后回写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在测试集上调阈值或选模型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能 → 验证集调参的乐观偏差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教师采纳后回写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不平衡数据只报准确率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能 → 准确率的局限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教师采纳后回写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裸 except / 函数过长 / 圈复杂度高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不能——说明工程素养，不说明知识点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只作建议，不回写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"/>
          <p:cNvSpPr txBox="1"/>
          <p:nvPr/>
        </p:nvSpPr>
        <p:spPr>
          <a:xfrm>
            <a:off x="720000" y="3960000"/>
            <a:ext cx="10752000" cy="209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原则：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若某类缺陷无法可靠映射到知识点，则不回写，宁缺毋滥。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回写的证据权重只有正式测验的一半，且必须教师采纳之后才生效。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16 / 32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演示四 · 把大模型接上去，看结论变不变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改一行配置，重启 —— 右上角从「离线降级」变成模型名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700000"/>
          <a:ext cx="10752000" cy="2000000"/>
        </p:xfrm>
        <a:graphic>
          <a:graphicData uri="http://schemas.openxmlformats.org/drawingml/2006/table">
            <a:tbl>
              <a:tblPr firstRow="1"/>
              <a:tblGrid>
                <a:gridCol w="4569600"/>
                <a:gridCol w="2956800"/>
                <a:gridCol w="3225600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对比项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离线表达器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接上大模型后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班级诊断的结论（Top3、根因、名单）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逐字节相同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缺口计算与挡路度排序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逐字节相同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置信度与证据条数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完全相同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措辞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模板化、略生硬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自然、有铺垫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"/>
          <p:cNvSpPr txBox="1"/>
          <p:nvPr/>
        </p:nvSpPr>
        <p:spPr>
          <a:xfrm>
            <a:off x="720000" y="3960000"/>
            <a:ext cx="10752000" cy="209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这条结论已经写成自动化测试，每次提交都会跑一遍。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含义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：今天用这个模型，明年出了更强的换掉即可——系统能力自动提升，此前积累的一切不受影响。</a:t>
            </a:r>
          </a:p>
        </p:txBody>
      </p:sp>
      <p:sp>
        <p:nvSpPr>
          <p:cNvPr id="12" name="r12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现场如果没有网络或 Key，用本机假底座演示同一件事：python3 aiedu.py mock-llm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17 / 32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000"/>
            </a:avLst>
          </a:prstGeom>
          <a:solidFill>
            <a:srgbClr val="F7F9FC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720000" y="2500000"/>
            <a:ext cx="180000" cy="90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"/>
          <p:cNvSpPr txBox="1"/>
          <p:nvPr/>
        </p:nvSpPr>
        <p:spPr>
          <a:xfrm>
            <a:off x="1100000" y="2500000"/>
            <a:ext cx="107520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solidFill>
                  <a:srgbClr val="1B1F24"/>
                </a:solidFill>
                <a:latin typeface="Segoe UI"/>
                <a:ea typeface="微软雅黑"/>
              </a:rPr>
              <a:t>四、它如何随时间变强</a:t>
            </a:r>
          </a:p>
        </p:txBody>
      </p:sp>
      <p:sp>
        <p:nvSpPr>
          <p:cNvPr id="5" name="s"/>
          <p:cNvSpPr txBox="1"/>
          <p:nvPr/>
        </p:nvSpPr>
        <p:spPr>
          <a:xfrm>
            <a:off x="1100000" y="3550000"/>
            <a:ext cx="10372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900" dirty="0">
                <a:solidFill>
                  <a:srgbClr val="6B7280"/>
                </a:solidFill>
                <a:latin typeface="Segoe UI"/>
                <a:ea typeface="微软雅黑"/>
              </a:rPr>
              <a:t>一套系统上线即定型，三年后必被淘汰。设计目标是：用得越久越有价值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三类会持续增厚的资产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400000"/>
          <a:ext cx="10752000" cy="1600000"/>
        </p:xfrm>
        <a:graphic>
          <a:graphicData uri="http://schemas.openxmlformats.org/drawingml/2006/table">
            <a:tbl>
              <a:tblPr firstRow="1"/>
              <a:tblGrid>
                <a:gridCol w="2097951"/>
                <a:gridCol w="4458146"/>
                <a:gridCol w="4195902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资产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增长方式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价值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知识图谱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一门课建好永久复用，每年新增一到两门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增长最慢，但一旦建成极难被替代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错误模式库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每运行一届，在每个知识点上沉淀真实错误样本与归因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三类里最有价值，也最容易被忽略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学生状态历史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每届学生的完整成长轨迹被结构化保留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反过来改进培养方案本身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"/>
          <p:cNvSpPr txBox="1"/>
          <p:nvPr/>
        </p:nvSpPr>
        <p:spPr>
          <a:xfrm>
            <a:off x="720000" y="3260000"/>
            <a:ext cx="10752000" cy="279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一位从教二十年的教师，最不可替代的能力不是讲得比别人清楚，而是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他知道学生会在哪里犯错、错的背后通常是哪个概念没通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这份经验从未被记录，教师退休即消失，新教师只能从头再积累一遍。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三届之后，这个库能回答一个新教师问不出、老教师答得出的问题：</a:t>
            </a:r>
            <a:r>
              <a:rPr lang="zh-CN" altLang="en-US" sz="1600" b="1" dirty="0">
                <a:solidFill>
                  <a:srgbClr val="4A5561"/>
                </a:solidFill>
                <a:latin typeface="Segoe UI"/>
                <a:ea typeface="微软雅黑"/>
              </a:rPr>
              <a:t>这个知识点，学生通常错在哪？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19 / 32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可替换与可积累的分界</a:t>
            </a:r>
          </a:p>
        </p:txBody>
      </p:sp>
      <p:sp>
        <p:nvSpPr>
          <p:cNvPr id="10" name="r10"/>
          <p:cNvSpPr/>
          <p:nvPr/>
        </p:nvSpPr>
        <p:spPr>
          <a:xfrm>
            <a:off x="720000" y="1400000"/>
            <a:ext cx="10752000" cy="1100000"/>
          </a:xfrm>
          <a:prstGeom prst="roundRect">
            <a:avLst>
              <a:gd name="adj" fmla="val 6000"/>
            </a:avLst>
          </a:prstGeom>
          <a:solidFill>
            <a:srgbClr val="1F6FEB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q"/>
          <p:cNvSpPr txBox="1"/>
          <p:nvPr/>
        </p:nvSpPr>
        <p:spPr>
          <a:xfrm>
            <a:off x="1020000" y="1580000"/>
            <a:ext cx="10152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200" b="1" dirty="0">
                <a:solidFill>
                  <a:srgbClr val="1F6FEB"/>
                </a:solidFill>
                <a:latin typeface="Segoe UI"/>
                <a:ea typeface="微软雅黑"/>
              </a:rPr>
              <a:t>任何可积累的东西，都不得依赖任何可替换的东西的内部实现。</a:t>
            </a:r>
          </a:p>
        </p:txBody>
      </p:sp>
      <p:graphicFrame>
        <p:nvGraphicFramePr>
          <p:cNvPr id="12" name="t12"/>
          <p:cNvGraphicFramePr/>
          <p:nvPr/>
        </p:nvGraphicFramePr>
        <p:xfrm>
          <a:off x="720000" y="2750000"/>
          <a:ext cx="10752000" cy="2400000"/>
        </p:xfrm>
        <a:graphic>
          <a:graphicData uri="http://schemas.openxmlformats.org/drawingml/2006/table">
            <a:tbl>
              <a:tblPr firstRow="1"/>
              <a:tblGrid>
                <a:gridCol w="2956800"/>
                <a:gridCol w="1881599"/>
                <a:gridCol w="5913600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部件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归属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设计要求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大模型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可替换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接口标准化，随时可整体更换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检索与生成策略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可替换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允许迭代重写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知识图谱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可积累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格式长期稳定，只增不毁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错误模式库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可积累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持续沉淀，独立于模型版本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学生状态历史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可积累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结构化留存，支持长周期分析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20 / 32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可审计性：状态不是模型说的，是事件算出来的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720000" y="1400000"/>
            <a:ext cx="10752000" cy="465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学习事件流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只追加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：数据库层面禁止修改与删除，违反即报错。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任何状态——包括掌握度、连续天数、成就——都可以从事件流完整重算。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当前演示数据：60 名学生、4934 条事件，重算校验 </a:t>
            </a:r>
            <a:r>
              <a:rPr lang="zh-CN" altLang="en-US" sz="1600" b="1" dirty="0">
                <a:solidFill>
                  <a:srgbClr val="4A5561"/>
                </a:solidFill>
                <a:latin typeface="Segoe UI"/>
                <a:ea typeface="微软雅黑"/>
              </a:rPr>
              <a:t>60/60 一致</a:t>
            </a: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掌握度必须挂在具体事件上，否则数据库拒绝写入。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任何人都可以拿走事件流自己重算一遍。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这是系统可被第三方核查的基础，也是我们对"数据能不能采信"这个问题的正面回答。</a:t>
            </a:r>
          </a:p>
        </p:txBody>
      </p:sp>
      <p:sp>
        <p:nvSpPr>
          <p:cNvPr id="11" name="r11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参照：某国外同类项目因拒绝独立验证而被质疑击穿。可核查性从第一天就要设计进去，事后补不上。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21 / 32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激励：只对「坚持」给正反馈</a:t>
            </a:r>
          </a:p>
        </p:txBody>
      </p:sp>
      <p:sp>
        <p:nvSpPr>
          <p:cNvPr id="10" name="r10"/>
          <p:cNvSpPr/>
          <p:nvPr/>
        </p:nvSpPr>
        <p:spPr>
          <a:xfrm>
            <a:off x="720000" y="1400000"/>
            <a:ext cx="5176000" cy="1620000"/>
          </a:xfrm>
          <a:prstGeom prst="roundRect">
            <a:avLst>
              <a:gd name="adj" fmla="val 6000"/>
            </a:avLst>
          </a:prstGeom>
          <a:solidFill>
            <a:srgbClr val="1A7F37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c0"/>
          <p:cNvSpPr txBox="1"/>
          <p:nvPr/>
        </p:nvSpPr>
        <p:spPr>
          <a:xfrm>
            <a:off x="940000" y="1550000"/>
            <a:ext cx="4736000" cy="1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700" b="1" dirty="0">
                <a:solidFill>
                  <a:srgbClr val="1A7F37"/>
                </a:solidFill>
                <a:latin typeface="Segoe UI"/>
                <a:ea typeface="微软雅黑"/>
              </a:rPr>
              <a:t>应当奖励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连续天数、中断后回归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攻克一个根因知识点（破关）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项目里程碑、真机跑通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失败后重来并通过</a:t>
            </a:r>
          </a:p>
        </p:txBody>
      </p:sp>
      <p:sp>
        <p:nvSpPr>
          <p:cNvPr id="12" name="r12"/>
          <p:cNvSpPr/>
          <p:nvPr/>
        </p:nvSpPr>
        <p:spPr>
          <a:xfrm>
            <a:off x="6296000" y="1400000"/>
            <a:ext cx="5176000" cy="1620000"/>
          </a:xfrm>
          <a:prstGeom prst="roundRect">
            <a:avLst>
              <a:gd name="adj" fmla="val 6000"/>
            </a:avLst>
          </a:prstGeom>
          <a:solidFill>
            <a:srgbClr val="CF222E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1"/>
          <p:cNvSpPr txBox="1"/>
          <p:nvPr/>
        </p:nvSpPr>
        <p:spPr>
          <a:xfrm>
            <a:off x="6516000" y="1550000"/>
            <a:ext cx="4736000" cy="1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700" b="1" dirty="0">
                <a:solidFill>
                  <a:srgbClr val="CF222E"/>
                </a:solidFill>
                <a:latin typeface="Segoe UI"/>
                <a:ea typeface="微软雅黑"/>
              </a:rPr>
              <a:t>明令禁止奖励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正确率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做题数量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停留时长</a:t>
            </a:r>
          </a:p>
          <a:p>
            <a:pPr lvl="0" marL="320000" indent="-320000" algn="l">
              <a:lnSpc>
                <a:spcPct val="118000"/>
              </a:lnSpc>
              <a:spcBef>
                <a:spcPts val="200"/>
              </a:spcBef>
              <a:buFont typeface="Arial"/>
              <a:buChar char="•"/>
            </a:pPr>
            <a:r>
              <a:rPr lang="zh-CN" altLang="en-US" sz="1500" dirty="0">
                <a:solidFill>
                  <a:srgbClr val="333333"/>
                </a:solidFill>
                <a:latin typeface="Segoe UI"/>
                <a:ea typeface="微软雅黑"/>
              </a:rPr>
              <a:t>排名（避免挫伤后进者）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720000" y="3120000"/>
            <a:ext cx="10752000" cy="293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原则：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让"坚持"上瘾，不让"简单"上瘾。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这条同样不靠自觉——代码里是白名单，传入正确率类激励直接报错。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若系统以"提高当场答对率"为目标，会训练出让学生越学越弱的系统。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评测指标的选择本身就是架构决策。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22 / 32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000"/>
            </a:avLst>
          </a:prstGeom>
          <a:solidFill>
            <a:srgbClr val="F7F9FC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720000" y="2500000"/>
            <a:ext cx="180000" cy="90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"/>
          <p:cNvSpPr txBox="1"/>
          <p:nvPr/>
        </p:nvSpPr>
        <p:spPr>
          <a:xfrm>
            <a:off x="1100000" y="2500000"/>
            <a:ext cx="107520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solidFill>
                  <a:srgbClr val="1B1F24"/>
                </a:solidFill>
                <a:latin typeface="Segoe UI"/>
                <a:ea typeface="微软雅黑"/>
              </a:rPr>
              <a:t>五、现在做到了什么</a:t>
            </a:r>
          </a:p>
        </p:txBody>
      </p:sp>
      <p:sp>
        <p:nvSpPr>
          <p:cNvPr id="5" name="s"/>
          <p:cNvSpPr txBox="1"/>
          <p:nvPr/>
        </p:nvSpPr>
        <p:spPr>
          <a:xfrm>
            <a:off x="1100000" y="3550000"/>
            <a:ext cx="10372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900" dirty="0">
                <a:solidFill>
                  <a:srgbClr val="6B7280"/>
                </a:solidFill>
                <a:latin typeface="Segoe UI"/>
                <a:ea typeface="微软雅黑"/>
              </a:rPr>
              <a:t>不是 PPT 方案，是可以现场跑起来的系统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已完成的系统（可现场核对）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400000"/>
          <a:ext cx="10752000" cy="3200000"/>
        </p:xfrm>
        <a:graphic>
          <a:graphicData uri="http://schemas.openxmlformats.org/drawingml/2006/table">
            <a:tbl>
              <a:tblPr firstRow="1"/>
              <a:tblGrid>
                <a:gridCol w="3665454"/>
                <a:gridCol w="2199272"/>
                <a:gridCol w="4887272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数量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说明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知识点 / 依赖边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183 / 224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试点课程《机器学习原理与应用》，导入强制环检测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能力模块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8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M1–M8，每个知识点挂 1–3 个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项目 / 任务 / 任务-知识点映射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2 / 35 / 115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AGV 与机器视觉，映射由导师标注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虚拟班级 / 学习事件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60 人 / 4934 条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全部经追踪器写入，可完整重算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错误模式 / 原始实例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8 / 60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从第一天开始积累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项目信号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1388 条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由适配器归一化为五类标准信号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自动化测试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83 个用例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含架构铁律的静态检查，全部通过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11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开源地址：github.com/codesoldier99/AI_EDU　　克隆后两条命令即可跑起来，无需数据库服务、无需网络、无需 API Key。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24 / 32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五类标准信号：接第 5 个和第 10 个项目，成本相同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实验班同期运行 5–10 个异构项目：机器人、机器视觉、大模型应用、数据平台、嵌入式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700000"/>
          <a:ext cx="10752000" cy="2400000"/>
        </p:xfrm>
        <a:graphic>
          <a:graphicData uri="http://schemas.openxmlformats.org/drawingml/2006/table">
            <a:tbl>
              <a:tblPr firstRow="1"/>
              <a:tblGrid>
                <a:gridCol w="1881599"/>
                <a:gridCol w="5376000"/>
                <a:gridCol w="3494400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信号类别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采集内容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可推断的能力维度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代码仓库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提交频次与粒度、变更量、评审记录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工程实现、协作规范性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构建与测试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CI 成功率、测试覆盖、缺陷修复周期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工程质量意识、调试能力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运行时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任务成功率、关键指标、异常重试、调参轨迹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系统调优、问题定位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文档与交付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设计文档、技术报告、答辩材料完整性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技术表达、系统性思维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协作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看板流转、评审互动、接口沟通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团队协作、项目管理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"/>
          <p:cNvSpPr txBox="1"/>
          <p:nvPr/>
        </p:nvSpPr>
        <p:spPr>
          <a:xfrm>
            <a:off x="720000" y="4360000"/>
            <a:ext cx="10752000" cy="169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新项目接入 = 写一个适配器，</a:t>
            </a: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核心系统一行不改</a:t>
            </a:r>
            <a:r>
              <a:rPr lang="zh-CN" altLang="en-US" sz="1900" dirty="0">
                <a:solidFill>
                  <a:srgbClr val="1B1F24"/>
                </a:solidFill>
                <a:latin typeface="Segoe UI"/>
                <a:ea typeface="微软雅黑"/>
              </a:rPr>
              <a:t>（这一条也写成了自动化测试）。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25 / 32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系统研发本身就是实验班的实战项目</a:t>
            </a:r>
          </a:p>
        </p:txBody>
      </p:sp>
      <p:sp>
        <p:nvSpPr>
          <p:cNvPr id="4" name="sub"/>
          <p:cNvSpPr txBox="1"/>
          <p:nvPr/>
        </p:nvSpPr>
        <p:spPr>
          <a:xfrm>
            <a:off x="940000" y="1180000"/>
            <a:ext cx="10752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500" dirty="0">
                <a:solidFill>
                  <a:srgbClr val="6B7280"/>
                </a:solidFill>
                <a:latin typeface="Segoe UI"/>
                <a:ea typeface="微软雅黑"/>
              </a:rPr>
              <a:t>原则：接口清晰、可独立验收的交给学生；决定骨架的由导师把关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700000"/>
          <a:ext cx="10752000" cy="2970000"/>
        </p:xfrm>
        <a:graphic>
          <a:graphicData uri="http://schemas.openxmlformats.org/drawingml/2006/table">
            <a:tbl>
              <a:tblPr firstRow="1"/>
              <a:tblGrid>
                <a:gridCol w="3909818"/>
                <a:gridCol w="2443636"/>
                <a:gridCol w="1466181"/>
                <a:gridCol w="2932363"/>
              </a:tblGrid>
              <a:tr h="33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模块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归属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难度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覆盖能力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知识点标注与图谱构建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学生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★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知识梳理、数据工程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项目适配器开发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学生分组并行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★★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接口设计、数据处理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画像看板前后端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学生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★★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Web 全栈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静态分析工具链集成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学生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★★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工程规范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RAG 检索优化与召回评测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学生（进阶）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★★★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检索、评估方法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追问策略引擎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导师带核心学生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★★★★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算法设计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状态模型与层间接口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导师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★★★★★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做错返工代价极高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任务-知识点映射标注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导师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★★★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学分认定依据，须可靠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11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须避免一个常见误区：不能把学生当免费劳动力去堆功能。每个模块都要有明确的接口契约与验收标准。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26 / 32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000"/>
            </a:avLst>
          </a:prstGeom>
          <a:solidFill>
            <a:srgbClr val="F7F9FC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720000" y="2500000"/>
            <a:ext cx="180000" cy="90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"/>
          <p:cNvSpPr txBox="1"/>
          <p:nvPr/>
        </p:nvSpPr>
        <p:spPr>
          <a:xfrm>
            <a:off x="1100000" y="2500000"/>
            <a:ext cx="107520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solidFill>
                  <a:srgbClr val="1B1F24"/>
                </a:solidFill>
                <a:latin typeface="Segoe UI"/>
                <a:ea typeface="微软雅黑"/>
              </a:rPr>
              <a:t>六、恳请各位老师拍板</a:t>
            </a:r>
          </a:p>
        </p:txBody>
      </p:sp>
      <p:sp>
        <p:nvSpPr>
          <p:cNvPr id="5" name="s"/>
          <p:cNvSpPr txBox="1"/>
          <p:nvPr/>
        </p:nvSpPr>
        <p:spPr>
          <a:xfrm>
            <a:off x="1100000" y="3550000"/>
            <a:ext cx="10372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900" dirty="0">
                <a:solidFill>
                  <a:srgbClr val="6B7280"/>
                </a:solidFill>
                <a:latin typeface="Segoe UI"/>
                <a:ea typeface="微软雅黑"/>
              </a:rPr>
              <a:t>以下参数决定系统形态。代码已全部做成配置，但初值需要教学经验给定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八件需要一线教学经验的事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400000"/>
          <a:ext cx="10752000" cy="3600000"/>
        </p:xfrm>
        <a:graphic>
          <a:graphicData uri="http://schemas.openxmlformats.org/drawingml/2006/table">
            <a:tbl>
              <a:tblPr firstRow="1"/>
              <a:tblGrid>
                <a:gridCol w="524487"/>
                <a:gridCol w="7080585"/>
                <a:gridCol w="3146926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#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问题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当前初值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知识点拆到多细？一门课 300 还是 500 个？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183（偏粗）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先做哪门课、先接哪 1–2 个项目？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机器学习；AGV + 机器视觉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掌握度低于多少判定「未掌握」、进入缺口？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0.75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追问几次之后降级？各级给多少提示？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3 次，三级梯度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五类项目信号如何加权映射到 M1–M8？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待标定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6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诊断报告里最想第一时间看到哪几件事？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见演示一（可增删）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7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哪些代码缺陷可以可靠回写知识点？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目前只认 5 条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8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一个叶子任务挂几个知识点合适？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5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3–6 个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11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第 6 条最关键：报告要让教师每天愿意打开，就必须直接回答他真正关心的问题。多余的字段我们删掉。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28 / 32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还有两个问题，只有各位能回答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720000" y="1400000"/>
            <a:ext cx="10752000" cy="465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指导项目时，你实际上是凭哪些迹象判断一个学生真的懂了？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实践能力的评估最难客观化。把这些迹象说清楚，才能转化为系统的信号。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学生反复卡住时，系统应坚持追问还是直接讲解？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取舍方向已经定死了：降级是为了防止挫败感摧毁动机，不是为了让学生轻松。问题不是要不要降级，而是几次之后降、每级给多少。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29 / 32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风险与对策</a:t>
            </a:r>
          </a:p>
        </p:txBody>
      </p:sp>
      <p:graphicFrame>
        <p:nvGraphicFramePr>
          <p:cNvPr id="10" name="t10"/>
          <p:cNvGraphicFramePr/>
          <p:nvPr/>
        </p:nvGraphicFramePr>
        <p:xfrm>
          <a:off x="720000" y="1400000"/>
          <a:ext cx="10752000" cy="2800000"/>
        </p:xfrm>
        <a:graphic>
          <a:graphicData uri="http://schemas.openxmlformats.org/drawingml/2006/table">
            <a:tbl>
              <a:tblPr firstRow="1"/>
              <a:tblGrid>
                <a:gridCol w="4154181"/>
                <a:gridCol w="977454"/>
                <a:gridCol w="5620363"/>
              </a:tblGrid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风险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影响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b="1" dirty="0">
                          <a:solidFill>
                            <a:srgbClr val="1B1F24"/>
                          </a:solidFill>
                          <a:latin typeface="Segoe UI"/>
                          <a:ea typeface="微软雅黑"/>
                        </a:rPr>
                        <a:t>对策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2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学生端使用率低（国外同类产品仅 15% 学生经常使用）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高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教师侧先行；参与度观测提前到第一阶段；嵌入既有流程；只奖励坚持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任务-知识点映射工作量大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高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首批只做 2 个项目验证粒度；大模型给候选、教师确认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拉取式导致知识零散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中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保留知识覆盖图；期末按图谱体系性补漏；出口统考不变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冷启动期诊断不准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中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显式置信度；前三周标注「数据不足」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教师抵触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高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建议非指令、一键否决、</a:t>
                      </a:r>
                      <a:r>
                        <a:rPr lang="zh-CN" altLang="en-US" sz="1400" b="1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不生成教师评价数据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大模型换代返工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中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marL="0" indent="0" algn="l">
                        <a:lnSpc>
                          <a:spcPct val="118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400" dirty="0">
                          <a:solidFill>
                            <a:srgbClr val="333333"/>
                          </a:solidFill>
                          <a:latin typeface="Segoe UI"/>
                          <a:ea typeface="微软雅黑"/>
                        </a:rPr>
                        <a:t>封装隔离；可积累数据不依赖模型格式（今天已演示）</a:t>
                      </a:r>
                    </a:p>
                  </a:txBody>
                  <a:tcPr marL="91440" marR="91440" marT="45720" marB="4572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30 / 32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720000" y="660000"/>
            <a:ext cx="90000" cy="420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940000" y="620000"/>
            <a:ext cx="10752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2700" b="1" dirty="0">
                <a:solidFill>
                  <a:srgbClr val="1B1F24"/>
                </a:solidFill>
                <a:latin typeface="Segoe UI"/>
                <a:ea typeface="微软雅黑"/>
              </a:rPr>
              <a:t>下一步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720000" y="1400000"/>
            <a:ext cx="10752000" cy="4658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近期（本学期内）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试点课程知识点由当前规模细化到 300–500 个，由课程组分工标注。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接入第一门课的真实作业与测验数据，教师端进入日常使用。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首批 2 个项目的任务-知识点映射由导师完成确认。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中期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接入校内 Git 与 CI，项目信号从真实数据采集，不再依赖演示数据。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错误模式库开始由教师逐条确认，这是最需要各位投入、也最有长期价值的一件事。</a:t>
            </a:r>
          </a:p>
          <a:p>
            <a:pPr lvl="0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▪"/>
            </a:pPr>
            <a:r>
              <a:rPr lang="zh-CN" altLang="en-US" sz="1900" b="1" dirty="0">
                <a:solidFill>
                  <a:srgbClr val="1B1F24"/>
                </a:solidFill>
                <a:latin typeface="Segoe UI"/>
                <a:ea typeface="微软雅黑"/>
              </a:rPr>
              <a:t>战略（最容易做出国际级贡献的位置）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全球仅极少数教学系统有随机对照试验级证据，中文工科场景近乎空白。</a:t>
            </a:r>
          </a:p>
          <a:p>
            <a:pPr lvl="1" marL="320000" indent="-320000" algn="l">
              <a:lnSpc>
                <a:spcPct val="118000"/>
              </a:lnSpc>
              <a:spcBef>
                <a:spcPts val="340"/>
              </a:spcBef>
              <a:buFont typeface="Arial"/>
              <a:buChar char="–"/>
            </a:pP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从现在起按可发表标准采集：实验班 vs 对照组、</a:t>
            </a:r>
            <a:r>
              <a:rPr lang="zh-CN" altLang="en-US" sz="1600" b="1" dirty="0">
                <a:solidFill>
                  <a:srgbClr val="4A5561"/>
                </a:solidFill>
                <a:latin typeface="Segoe UI"/>
                <a:ea typeface="微软雅黑"/>
              </a:rPr>
              <a:t>延迟后测</a:t>
            </a:r>
            <a:r>
              <a:rPr lang="zh-CN" altLang="en-US" sz="1600" dirty="0">
                <a:solidFill>
                  <a:srgbClr val="4A5561"/>
                </a:solidFill>
                <a:latin typeface="Segoe UI"/>
                <a:ea typeface="微软雅黑"/>
              </a:rPr>
              <a:t>作主指标、研究方案预注册。</a:t>
            </a:r>
          </a:p>
        </p:txBody>
      </p:sp>
      <p:sp>
        <p:nvSpPr>
          <p:cNvPr id="11" name="r11"/>
          <p:cNvSpPr/>
          <p:nvPr/>
        </p:nvSpPr>
        <p:spPr>
          <a:xfrm>
            <a:off x="720000" y="5958000"/>
            <a:ext cx="10752000" cy="460000"/>
          </a:xfrm>
          <a:prstGeom prst="roundRect">
            <a:avLst>
              <a:gd name="adj" fmla="val 6000"/>
            </a:avLst>
          </a:prstGeom>
          <a:solidFill>
            <a:srgbClr val="BF8700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note"/>
          <p:cNvSpPr txBox="1"/>
          <p:nvPr/>
        </p:nvSpPr>
        <p:spPr>
          <a:xfrm>
            <a:off x="920000" y="5998000"/>
            <a:ext cx="10352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8A6400"/>
                </a:solidFill>
                <a:latin typeface="Segoe UI"/>
                <a:ea typeface="微软雅黑"/>
              </a:rPr>
              <a:t>注意：主指标必须是延迟后测与迁移任务，不能是当场正确率——否则会训练出让学生越学越弱的系统。</a:t>
            </a:r>
          </a:p>
        </p:txBody>
      </p:sp>
      <p:sp>
        <p:nvSpPr>
          <p:cNvPr id="90" name="pg"/>
          <p:cNvSpPr txBox="1"/>
          <p:nvPr/>
        </p:nvSpPr>
        <p:spPr>
          <a:xfrm>
            <a:off x="10572000" y="6378000"/>
            <a:ext cx="9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r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100" dirty="0">
                <a:solidFill>
                  <a:srgbClr val="6B7280"/>
                </a:solidFill>
                <a:latin typeface="Segoe UI"/>
                <a:ea typeface="微软雅黑"/>
              </a:rPr>
              <a:t>31 / 32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6000"/>
            </a:avLst>
          </a:prstGeom>
          <a:solidFill>
            <a:srgbClr val="1F6FEB">
              <a:alpha val="10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"/>
          <p:cNvSpPr txBox="1"/>
          <p:nvPr/>
        </p:nvSpPr>
        <p:spPr>
          <a:xfrm>
            <a:off x="720000" y="1900000"/>
            <a:ext cx="10752000" cy="1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4400" b="1" dirty="0">
                <a:solidFill>
                  <a:srgbClr val="FFFFFF"/>
                </a:solidFill>
                <a:latin typeface="Segoe UI"/>
                <a:ea typeface="微软雅黑"/>
              </a:rPr>
              <a:t>把大模型放在它该在的位置上</a:t>
            </a:r>
          </a:p>
        </p:txBody>
      </p:sp>
      <p:sp>
        <p:nvSpPr>
          <p:cNvPr id="4" name="s"/>
          <p:cNvSpPr txBox="1"/>
          <p:nvPr/>
        </p:nvSpPr>
        <p:spPr>
          <a:xfrm>
            <a:off x="720000" y="3500000"/>
            <a:ext cx="10752000" cy="1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260"/>
              </a:spcBef>
              <a:buNone/>
            </a:pPr>
            <a:r>
              <a:rPr lang="zh-CN" altLang="en-US" sz="1900" dirty="0">
                <a:solidFill>
                  <a:srgbClr val="E8F0FE"/>
                </a:solidFill>
                <a:latin typeface="Segoe UI"/>
                <a:ea typeface="微软雅黑"/>
              </a:rPr>
              <a:t>状态与表达分离，是这套方案唯一真正重要的技术判断。</a:t>
            </a:r>
          </a:p>
          <a:p>
            <a:pPr lvl="0" marL="0" indent="0" algn="l">
              <a:lnSpc>
                <a:spcPct val="118000"/>
              </a:lnSpc>
              <a:spcBef>
                <a:spcPts val="260"/>
              </a:spcBef>
              <a:buNone/>
            </a:pPr>
            <a:r>
              <a:rPr lang="zh-CN" altLang="en-US" sz="1900" dirty="0">
                <a:solidFill>
                  <a:srgbClr val="E8F0FE"/>
                </a:solidFill>
                <a:latin typeface="Segoe UI"/>
                <a:ea typeface="微软雅黑"/>
              </a:rPr>
              <a:t>它决定了三年之后，我们手上留下的是一堆过时的提示词，</a:t>
            </a:r>
          </a:p>
          <a:p>
            <a:pPr lvl="0" marL="0" indent="0" algn="l">
              <a:lnSpc>
                <a:spcPct val="118000"/>
              </a:lnSpc>
              <a:spcBef>
                <a:spcPts val="260"/>
              </a:spcBef>
              <a:buNone/>
            </a:pPr>
            <a:r>
              <a:rPr lang="zh-CN" altLang="en-US" sz="1900" dirty="0">
                <a:solidFill>
                  <a:srgbClr val="E8F0FE"/>
                </a:solidFill>
                <a:latin typeface="Segoe UI"/>
                <a:ea typeface="微软雅黑"/>
              </a:rPr>
              <a:t>还是一份越用越厚的学院资产。</a:t>
            </a:r>
          </a:p>
          <a:p>
            <a:pPr lvl="0" marL="0" indent="0" algn="l">
              <a:lnSpc>
                <a:spcPct val="118000"/>
              </a:lnSpc>
              <a:spcBef>
                <a:spcPts val="260"/>
              </a:spcBef>
              <a:buNone/>
            </a:pPr>
            <a:r>
              <a:rPr lang="zh-CN" altLang="en-US" sz="1900" dirty="0">
                <a:solidFill>
                  <a:srgbClr val="E8F0FE"/>
                </a:solidFill>
                <a:latin typeface="Segoe UI"/>
                <a:ea typeface="微软雅黑"/>
              </a:rPr>
              <a:t/>
            </a:r>
          </a:p>
          <a:p>
            <a:pPr lvl="0" marL="0" indent="0" algn="l">
              <a:lnSpc>
                <a:spcPct val="118000"/>
              </a:lnSpc>
              <a:spcBef>
                <a:spcPts val="260"/>
              </a:spcBef>
              <a:buNone/>
            </a:pPr>
            <a:r>
              <a:rPr lang="zh-CN" altLang="en-US" sz="1900" dirty="0">
                <a:solidFill>
                  <a:srgbClr val="E8F0FE"/>
                </a:solidFill>
                <a:latin typeface="Segoe UI"/>
                <a:ea typeface="微软雅黑"/>
              </a:rPr>
              <a:t>恳请各位老师批评指正。</a:t>
            </a:r>
          </a:p>
        </p:txBody>
      </p:sp>
      <p:sp>
        <p:nvSpPr>
          <p:cNvPr id="5" name="f"/>
          <p:cNvSpPr txBox="1"/>
          <p:nvPr/>
        </p:nvSpPr>
        <p:spPr>
          <a:xfrm>
            <a:off x="720000" y="5958000"/>
            <a:ext cx="10752000" cy="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lvl="0" marL="0" indent="0" algn="l">
              <a:lnSpc>
                <a:spcPct val="118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rgbClr val="C7DAF7"/>
                </a:solidFill>
                <a:latin typeface="Segoe UI"/>
                <a:ea typeface="微软雅黑"/>
              </a:rPr>
              <a:t>人工智能与交通工程学院 · 2026 年 8 月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AIEDU">
  <a:themeElements>
    <a:clrScheme name="AIEDU">
      <a:dk1>
        <a:srgbClr val="1B1F24"/>
      </a:dk1>
      <a:lt1>
        <a:srgbClr val="FFFFFF"/>
      </a:lt1>
      <a:dk2>
        <a:srgbClr val="333333"/>
      </a:dk2>
      <a:lt2>
        <a:srgbClr val="F2F5F9"/>
      </a:lt2>
      <a:accent1>
        <a:srgbClr val="1F6FEB"/>
      </a:accent1>
      <a:accent2>
        <a:srgbClr val="1A7F37"/>
      </a:accent2>
      <a:accent3>
        <a:srgbClr val="BF8700"/>
      </a:accent3>
      <a:accent4>
        <a:srgbClr val="CF222E"/>
      </a:accent4>
      <a:accent5>
        <a:srgbClr val="6B7280"/>
      </a:accent5>
      <a:accent6>
        <a:srgbClr val="8250DF"/>
      </a:accent6>
      <a:hlink>
        <a:srgbClr val="1F6FEB"/>
      </a:hlink>
      <a:folHlink>
        <a:srgbClr val="8250DF"/>
      </a:folHlink>
    </a:clrScheme>
    <a:fontScheme name="AIEDU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AIEDU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Slides>32</Slides>
</Properties>
</file>

<file path=docProps/core.xml><?xml version="1.0" encoding="utf-8"?>
<cp:coreProperties xmlns:cp="http://schemas.openxmlformats.org/package/2006/metadata/core-properties" xmlns:dc="http://purl.org/dc/elements/1.1/">
  <dc:title>苏格拉底式 AI 教学系统 · 汇报</dc:title>
  <dc:creator>人工智能与交通工程学院</dc:creator>
</cp:coreProperties>
</file>