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theme" Target="theme/them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"/>
          <p:cNvSpPr txBox="1"/>
          <p:nvPr/>
        </p:nvSpPr>
        <p:spPr>
          <a:xfrm>
            <a:off x="720000" y="1900000"/>
            <a:ext cx="10752000" cy="1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4400" b="1" dirty="0">
                <a:solidFill>
                  <a:srgbClr val="FFFFFF"/>
                </a:solidFill>
                <a:latin typeface="Segoe UI"/>
                <a:ea typeface="微软雅黑"/>
              </a:rPr>
              <a:t>项目制教学，怎么管</a:t>
            </a:r>
          </a:p>
        </p:txBody>
      </p:sp>
      <p:sp>
        <p:nvSpPr>
          <p:cNvPr id="4" name="s"/>
          <p:cNvSpPr txBox="1"/>
          <p:nvPr/>
        </p:nvSpPr>
        <p:spPr>
          <a:xfrm>
            <a:off x="720000" y="3500000"/>
            <a:ext cx="10752000" cy="16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260"/>
              </a:spcBef>
              <a:buNone/>
            </a:pPr>
            <a:r>
              <a:rPr lang="zh-CN" altLang="en-US" sz="1900" dirty="0">
                <a:solidFill>
                  <a:srgbClr val="E8F0FE"/>
                </a:solidFill>
                <a:latin typeface="Segoe UI"/>
                <a:ea typeface="微软雅黑"/>
              </a:rPr>
              <a:t>把真实产业项目变成可判定的教学过程，</a:t>
            </a:r>
          </a:p>
          <a:p>
            <a:pPr lvl="0" marL="0" indent="0" algn="l">
              <a:lnSpc>
                <a:spcPct val="118000"/>
              </a:lnSpc>
              <a:spcBef>
                <a:spcPts val="260"/>
              </a:spcBef>
              <a:buNone/>
            </a:pPr>
            <a:r>
              <a:rPr lang="zh-CN" altLang="en-US" sz="1900" dirty="0">
                <a:solidFill>
                  <a:srgbClr val="E8F0FE"/>
                </a:solidFill>
                <a:latin typeface="Segoe UI"/>
                <a:ea typeface="微软雅黑"/>
              </a:rPr>
              <a:t>而不是「做完项目发个学分」。</a:t>
            </a:r>
          </a:p>
          <a:p>
            <a:pPr lvl="0" marL="0" indent="0" algn="l">
              <a:lnSpc>
                <a:spcPct val="118000"/>
              </a:lnSpc>
              <a:spcBef>
                <a:spcPts val="260"/>
              </a:spcBef>
              <a:buNone/>
            </a:pPr>
            <a:r>
              <a:rPr lang="zh-CN" altLang="en-US" sz="1900" dirty="0">
                <a:solidFill>
                  <a:srgbClr val="E8F0FE"/>
                </a:solidFill>
                <a:latin typeface="Segoe UI"/>
                <a:ea typeface="微软雅黑"/>
              </a:rPr>
              <a:t/>
            </a:r>
          </a:p>
          <a:p>
            <a:pPr lvl="0" marL="0" indent="0" algn="l">
              <a:lnSpc>
                <a:spcPct val="118000"/>
              </a:lnSpc>
              <a:spcBef>
                <a:spcPts val="260"/>
              </a:spcBef>
              <a:buNone/>
            </a:pPr>
            <a:r>
              <a:rPr lang="zh-CN" altLang="en-US" sz="1900" dirty="0">
                <a:solidFill>
                  <a:srgbClr val="E8F0FE"/>
                </a:solidFill>
                <a:latin typeface="Segoe UI"/>
                <a:ea typeface="微软雅黑"/>
              </a:rPr>
              <a:t>以 DAC-3D 光学检测系统为例 · 已在系统中跑通</a:t>
            </a:r>
          </a:p>
        </p:txBody>
      </p:sp>
      <p:sp>
        <p:nvSpPr>
          <p:cNvPr id="5" name="f"/>
          <p:cNvSpPr txBox="1"/>
          <p:nvPr/>
        </p:nvSpPr>
        <p:spPr>
          <a:xfrm>
            <a:off x="720000" y="5958000"/>
            <a:ext cx="10752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C7DAF7"/>
                </a:solidFill>
                <a:latin typeface="Segoe UI"/>
                <a:ea typeface="微软雅黑"/>
              </a:rPr>
              <a:t>院长实验班教师研讨 · 2026 年 8 月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720000" y="50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800" b="1" dirty="0">
                <a:solidFill>
                  <a:srgbClr val="1B1F24"/>
                </a:solidFill>
                <a:latin typeface="Segoe UI"/>
                <a:ea typeface="微软雅黑"/>
              </a:rPr>
              <a:t>先说结论：这次真正解决的是哪一件事</a:t>
            </a:r>
          </a:p>
        </p:txBody>
      </p:sp>
      <p:sp>
        <p:nvSpPr>
          <p:cNvPr id="4" name="sub"/>
          <p:cNvSpPr txBox="1"/>
          <p:nvPr/>
        </p:nvSpPr>
        <p:spPr>
          <a:xfrm>
            <a:off x="720000" y="1020000"/>
            <a:ext cx="10752000" cy="4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项目制教学卡住的从来不是热情，是两件具体的事</a:t>
            </a:r>
          </a:p>
        </p:txBody>
      </p:sp>
      <p:sp>
        <p:nvSpPr>
          <p:cNvPr id="10" name="r10"/>
          <p:cNvSpPr/>
          <p:nvPr/>
        </p:nvSpPr>
        <p:spPr>
          <a:xfrm>
            <a:off x="720000" y="1570000"/>
            <a:ext cx="5226000" cy="3500000"/>
          </a:xfrm>
          <a:prstGeom prst="roundRect">
            <a:avLst>
              <a:gd name="adj" fmla="val 6000"/>
            </a:avLst>
          </a:prstGeom>
          <a:solidFill>
            <a:srgbClr val="1A7F37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b0"/>
          <p:cNvSpPr txBox="1"/>
          <p:nvPr/>
        </p:nvSpPr>
        <p:spPr>
          <a:xfrm>
            <a:off x="720000" y="1830000"/>
            <a:ext cx="5226000" cy="1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9600" b="1" dirty="0">
                <a:solidFill>
                  <a:srgbClr val="1A7F37"/>
                </a:solidFill>
                <a:latin typeface="Segoe UI"/>
                <a:ea typeface="微软雅黑"/>
              </a:rPr>
              <a:t>11,644</a:t>
            </a:r>
          </a:p>
        </p:txBody>
      </p:sp>
      <p:sp>
        <p:nvSpPr>
          <p:cNvPr id="12" name="l0"/>
          <p:cNvSpPr txBox="1"/>
          <p:nvPr/>
        </p:nvSpPr>
        <p:spPr>
          <a:xfrm>
            <a:off x="720000" y="3130000"/>
            <a:ext cx="5226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次人工比对，被压到一次审阅</a:t>
            </a:r>
          </a:p>
        </p:txBody>
      </p:sp>
      <p:sp>
        <p:nvSpPr>
          <p:cNvPr id="13" name="t0"/>
          <p:cNvSpPr txBox="1"/>
          <p:nvPr/>
        </p:nvSpPr>
        <p:spPr>
          <a:xfrm>
            <a:off x="920000" y="3650000"/>
            <a:ext cx="4826000" cy="1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300"/>
              </a:spcBef>
              <a:buNone/>
            </a:pP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41 个任务 × 284 个知识点，逐条比对是这个量级</a:t>
            </a:r>
          </a:p>
          <a:p>
            <a:pPr lvl="0" marL="0" indent="0" algn="ctr">
              <a:lnSpc>
                <a:spcPct val="118000"/>
              </a:lnSpc>
              <a:spcBef>
                <a:spcPts val="300"/>
              </a:spcBef>
              <a:buNone/>
            </a:pP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系统自动提出 188 条候选，附证据与置信度</a:t>
            </a:r>
          </a:p>
          <a:p>
            <a:pPr lvl="0" marL="0" indent="0" algn="ctr">
              <a:lnSpc>
                <a:spcPct val="118000"/>
              </a:lnSpc>
              <a:spcBef>
                <a:spcPts val="300"/>
              </a:spcBef>
              <a:buNone/>
            </a:pP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教师做的是</a:t>
            </a:r>
            <a:r>
              <a:rPr lang="zh-CN" altLang="en-US" sz="1400" b="1" dirty="0">
                <a:solidFill>
                  <a:srgbClr val="4A5561"/>
                </a:solidFill>
                <a:latin typeface="Segoe UI"/>
                <a:ea typeface="微软雅黑"/>
              </a:rPr>
              <a:t>审</a:t>
            </a: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，不是</a:t>
            </a:r>
            <a:r>
              <a:rPr lang="zh-CN" altLang="en-US" sz="1400" b="1" dirty="0">
                <a:solidFill>
                  <a:srgbClr val="4A5561"/>
                </a:solidFill>
                <a:latin typeface="Segoe UI"/>
                <a:ea typeface="微软雅黑"/>
              </a:rPr>
              <a:t>填</a:t>
            </a: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——采纳才算数</a:t>
            </a:r>
          </a:p>
          <a:p>
            <a:pPr lvl="0" marL="0" indent="0" algn="ctr">
              <a:lnSpc>
                <a:spcPct val="118000"/>
              </a:lnSpc>
              <a:spcBef>
                <a:spcPts val="300"/>
              </a:spcBef>
              <a:buNone/>
            </a:pP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这是项目制教学最贵、也最容易半途而废的一道人工门槛</a:t>
            </a:r>
          </a:p>
        </p:txBody>
      </p:sp>
      <p:sp>
        <p:nvSpPr>
          <p:cNvPr id="14" name="r14"/>
          <p:cNvSpPr/>
          <p:nvPr/>
        </p:nvSpPr>
        <p:spPr>
          <a:xfrm>
            <a:off x="6246000" y="1570000"/>
            <a:ext cx="5226000" cy="350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b1"/>
          <p:cNvSpPr txBox="1"/>
          <p:nvPr/>
        </p:nvSpPr>
        <p:spPr>
          <a:xfrm>
            <a:off x="6246000" y="1830000"/>
            <a:ext cx="5226000" cy="1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9600" b="1" dirty="0">
                <a:solidFill>
                  <a:srgbClr val="1F6FEB"/>
                </a:solidFill>
                <a:latin typeface="Segoe UI"/>
                <a:ea typeface="微软雅黑"/>
              </a:rPr>
              <a:t>22</a:t>
            </a:r>
          </a:p>
        </p:txBody>
      </p:sp>
      <p:sp>
        <p:nvSpPr>
          <p:cNvPr id="16" name="l1"/>
          <p:cNvSpPr txBox="1"/>
          <p:nvPr/>
        </p:nvSpPr>
        <p:spPr>
          <a:xfrm>
            <a:off x="6246000" y="3130000"/>
            <a:ext cx="5226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条「做项目时才拉取」的课程知识点</a:t>
            </a:r>
          </a:p>
        </p:txBody>
      </p:sp>
      <p:sp>
        <p:nvSpPr>
          <p:cNvPr id="17" name="t1"/>
          <p:cNvSpPr txBox="1"/>
          <p:nvPr/>
        </p:nvSpPr>
        <p:spPr>
          <a:xfrm>
            <a:off x="6446000" y="3650000"/>
            <a:ext cx="4826000" cy="1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300"/>
              </a:spcBef>
              <a:buNone/>
            </a:pP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学生做到「训练基线分类模型」，系统才推机器学习那几个点</a:t>
            </a:r>
          </a:p>
          <a:p>
            <a:pPr lvl="0" marL="0" indent="0" algn="ctr">
              <a:lnSpc>
                <a:spcPct val="118000"/>
              </a:lnSpc>
              <a:spcBef>
                <a:spcPts val="300"/>
              </a:spcBef>
              <a:buNone/>
            </a:pP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不要求先修完一学期机器学习再进项目</a:t>
            </a:r>
          </a:p>
          <a:p>
            <a:pPr lvl="0" marL="0" indent="0" algn="ctr">
              <a:lnSpc>
                <a:spcPct val="118000"/>
              </a:lnSpc>
              <a:spcBef>
                <a:spcPts val="300"/>
              </a:spcBef>
              <a:buNone/>
            </a:pP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跨课程依赖边 15 条，由图谱自动接上</a:t>
            </a:r>
          </a:p>
          <a:p>
            <a:pPr lvl="0" marL="0" indent="0" algn="ctr">
              <a:lnSpc>
                <a:spcPct val="118000"/>
              </a:lnSpc>
              <a:spcBef>
                <a:spcPts val="300"/>
              </a:spcBef>
              <a:buNone/>
            </a:pP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知识由项目需求拉取，不由课程顺序推送</a:t>
            </a:r>
          </a:p>
        </p:txBody>
      </p:sp>
      <p:sp>
        <p:nvSpPr>
          <p:cNvPr id="18" name="note"/>
          <p:cNvSpPr txBox="1"/>
          <p:nvPr/>
        </p:nvSpPr>
        <p:spPr>
          <a:xfrm>
            <a:off x="720000" y="6078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6B7280"/>
                </a:solidFill>
                <a:latin typeface="Segoe UI"/>
                <a:ea typeface="微软雅黑"/>
              </a:rPr>
              <a:t>左边是省掉的教师工作量，右边是学生这一侧真正的变化。两件事靠的是同一样东西：把项目铺成知识坐标系。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2 / 16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项目制教学为什么最后总是退化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不是老师不投入，是有三处断得很具体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1600000"/>
        </p:xfrm>
        <a:graphic>
          <a:graphicData uri="http://schemas.openxmlformats.org/drawingml/2006/table">
            <a:tbl>
              <a:tblPr firstRow="1"/>
              <a:tblGrid>
                <a:gridCol w="2150400"/>
                <a:gridCol w="4778666"/>
                <a:gridCol w="3822933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断在哪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现场表现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后果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项目与课程是两套账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项目做得好不好，与「他学会了什么」是两份材料，对不上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学分只能按印象给，能力追溯无从谈起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任务不可判定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「参与了光路搭建」——参与到什么程度算完成？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验收靠导师印象，换个导师标准就变了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知识给得不是时候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先上完半年理论再进项目，或者进了项目缺什么补什么全靠问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前者学过就忘，后者取决于导师当时在不在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3560000"/>
            <a:ext cx="10752000" cy="24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这三条是连着的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：任务不可判定 → 项目产出无法翻译成知识点 → 只好另建一套考试来认定能力 → 两套账。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所以不能只修其中一条。下面这套方法是按这个顺序来的。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这一页不谈技术。如果各位觉得这三条不是真问题，后面就都不成立，请当场打断。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3 / 16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唯一的核心判断：图谱是索引，不是课表</a:t>
            </a:r>
          </a:p>
        </p:txBody>
      </p:sp>
      <p:sp>
        <p:nvSpPr>
          <p:cNvPr id="10" name="r10"/>
          <p:cNvSpPr/>
          <p:nvPr/>
        </p:nvSpPr>
        <p:spPr>
          <a:xfrm>
            <a:off x="720000" y="1400000"/>
            <a:ext cx="10752000" cy="1100000"/>
          </a:xfrm>
          <a:prstGeom prst="roundRect">
            <a:avLst>
              <a:gd name="adj" fmla="val 6000"/>
            </a:avLst>
          </a:prstGeom>
          <a:solidFill>
            <a:srgbClr val="1F6FEB">
              <a:alpha val="12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q"/>
          <p:cNvSpPr txBox="1"/>
          <p:nvPr/>
        </p:nvSpPr>
        <p:spPr>
          <a:xfrm>
            <a:off x="1020000" y="1580000"/>
            <a:ext cx="10152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200" b="1" dirty="0">
                <a:solidFill>
                  <a:srgbClr val="1F6FEB"/>
                </a:solidFill>
                <a:latin typeface="Segoe UI"/>
                <a:ea typeface="微软雅黑"/>
              </a:rPr>
              <a:t>知识由项目需求拉取，不由课程顺序推送。</a:t>
            </a:r>
          </a:p>
        </p:txBody>
      </p:sp>
      <p:graphicFrame>
        <p:nvGraphicFramePr>
          <p:cNvPr id="12" name="t12"/>
          <p:cNvGraphicFramePr/>
          <p:nvPr/>
        </p:nvGraphicFramePr>
        <p:xfrm>
          <a:off x="720000" y="2750000"/>
          <a:ext cx="10752000" cy="2000000"/>
        </p:xfrm>
        <a:graphic>
          <a:graphicData uri="http://schemas.openxmlformats.org/drawingml/2006/table">
            <a:tbl>
              <a:tblPr firstRow="1"/>
              <a:tblGrid>
                <a:gridCol w="2030933"/>
                <a:gridCol w="3106133"/>
                <a:gridCol w="5614933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/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传统排课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本方法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依赖边用来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排定教学顺序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回答「要做这个，还缺什么」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图谱本质是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教学顺序表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按需检索的索引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学习起点是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课程第一章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当前卡住的那个任务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学生问的是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这章什么时候考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我为什么现在要学这个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body"/>
          <p:cNvSpPr txBox="1"/>
          <p:nvPr/>
        </p:nvSpPr>
        <p:spPr>
          <a:xfrm>
            <a:off x="720000" y="5010000"/>
            <a:ext cx="10752000" cy="104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拓扑序仍然保留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，但只用来算「缺口内部谁先谁后」，不用来安排全员进度。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代价要说清楚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：这样做，全班不再有统一进度条，教师看到的是 60 张不同的缺口清单——所以才必须有工具，靠人管不过来。</a:t>
            </a:r>
          </a:p>
        </p:txBody>
      </p:sp>
      <p:sp>
        <p:nvSpPr>
          <p:cNvPr id="14" name="r14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这是整套方法唯一的技术判断。其余都是它的推论。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4 / 16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6000"/>
            </a:avLst>
          </a:prstGeom>
          <a:solidFill>
            <a:srgbClr val="F7F9FC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3"/>
          <p:cNvSpPr/>
          <p:nvPr/>
        </p:nvSpPr>
        <p:spPr>
          <a:xfrm>
            <a:off x="720000" y="2500000"/>
            <a:ext cx="180000" cy="90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"/>
          <p:cNvSpPr txBox="1"/>
          <p:nvPr/>
        </p:nvSpPr>
        <p:spPr>
          <a:xfrm>
            <a:off x="1100000" y="2500000"/>
            <a:ext cx="10752000" cy="10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3600" b="1" dirty="0">
                <a:solidFill>
                  <a:srgbClr val="1B1F24"/>
                </a:solidFill>
                <a:latin typeface="Segoe UI"/>
                <a:ea typeface="微软雅黑"/>
              </a:rPr>
              <a:t>方法：四步，把一个项目接进教学</a:t>
            </a:r>
          </a:p>
        </p:txBody>
      </p:sp>
      <p:sp>
        <p:nvSpPr>
          <p:cNvPr id="5" name="s"/>
          <p:cNvSpPr txBox="1"/>
          <p:nvPr/>
        </p:nvSpPr>
        <p:spPr>
          <a:xfrm>
            <a:off x="1100000" y="3550000"/>
            <a:ext cx="10372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900" dirty="0">
                <a:solidFill>
                  <a:srgbClr val="6B7280"/>
                </a:solidFill>
                <a:latin typeface="Segoe UI"/>
                <a:ea typeface="微软雅黑"/>
              </a:rPr>
              <a:t>以 DAC-3D 光学检测系统为例，四步全部已跑通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第一步：把项目拆成可判定的任务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不为教学另编一套——项目本来就要干的活，就是任务节点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1600000"/>
        </p:xfrm>
        <a:graphic>
          <a:graphicData uri="http://schemas.openxmlformats.org/drawingml/2006/table">
            <a:tbl>
              <a:tblPr firstRow="1"/>
              <a:tblGrid>
                <a:gridCol w="3038608"/>
                <a:gridCol w="2804869"/>
                <a:gridCol w="4908521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来源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变成什么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本项目实际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半年实践计划的六道关卡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6 个里程碑任务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软件在环 → 硬件 → 光路 → AI → 触发 → 交付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每关的验收清单（可勾选项）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子任务与完成判据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共 41 个任务，每个都能判「做到/没做到」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关卡之间的先后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任务依赖边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5 条，构成闯关顺序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3560000"/>
            <a:ext cx="10752000" cy="24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关键在「可判定」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：不是「理解了触发原理」，而是「画出一张触发时序图，能对着图讲清位置与图像如何对齐」。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前者只能靠印象打分，后者换谁验收结论都一样。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这一步没有 AI 参与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，也不该有——怎么算完成，是教学判断。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任务树直接来自项目仓库里的 dac3d-lab-curriculum.md，不是另写的教案。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6 / 16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第二步：给项目建知识坐标系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400000"/>
            <a:ext cx="107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6B7280"/>
                </a:solidFill>
                <a:latin typeface="Segoe UI"/>
                <a:ea typeface="微软雅黑"/>
              </a:rPr>
              <a:t>领域知识点自成一门图谱，并与既有课程跨课连边</a:t>
            </a:r>
          </a:p>
        </p:txBody>
      </p:sp>
      <p:sp>
        <p:nvSpPr>
          <p:cNvPr id="10" name="r10"/>
          <p:cNvSpPr/>
          <p:nvPr/>
        </p:nvSpPr>
        <p:spPr>
          <a:xfrm>
            <a:off x="720000" y="5808000"/>
            <a:ext cx="10752000" cy="6000"/>
          </a:xfrm>
          <a:prstGeom prst="roundRect">
            <a:avLst>
              <a:gd name="adj" fmla="val 6000"/>
            </a:avLst>
          </a:prstGeom>
          <a:solidFill>
            <a:srgbClr val="D5DBE3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r11"/>
          <p:cNvSpPr/>
          <p:nvPr/>
        </p:nvSpPr>
        <p:spPr>
          <a:xfrm>
            <a:off x="720000" y="2220000"/>
            <a:ext cx="2062400" cy="3588000"/>
          </a:xfrm>
          <a:prstGeom prst="roundRect">
            <a:avLst>
              <a:gd name="adj" fmla="val 6000"/>
            </a:avLst>
          </a:prstGeom>
          <a:solidFill>
            <a:srgbClr val="1F6FEB">
              <a:alpha val="92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val0"/>
          <p:cNvSpPr txBox="1"/>
          <p:nvPr/>
        </p:nvSpPr>
        <p:spPr>
          <a:xfrm>
            <a:off x="720000" y="1960000"/>
            <a:ext cx="2062400" cy="2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b="1" dirty="0">
                <a:solidFill>
                  <a:srgbClr val="1B1F24"/>
                </a:solidFill>
                <a:latin typeface="Segoe UI"/>
                <a:ea typeface="微软雅黑"/>
              </a:rPr>
              <a:t>183</a:t>
            </a:r>
          </a:p>
        </p:txBody>
      </p:sp>
      <p:sp>
        <p:nvSpPr>
          <p:cNvPr id="13" name="lbl0"/>
          <p:cNvSpPr txBox="1"/>
          <p:nvPr/>
        </p:nvSpPr>
        <p:spPr>
          <a:xfrm>
            <a:off x="680000" y="5848000"/>
            <a:ext cx="2142400" cy="4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000" dirty="0">
                <a:solidFill>
                  <a:srgbClr val="6B7280"/>
                </a:solidFill>
                <a:latin typeface="Segoe UI"/>
                <a:ea typeface="微软雅黑"/>
              </a:rPr>
              <a:t>机器学习图谱</a:t>
            </a:r>
          </a:p>
        </p:txBody>
      </p:sp>
      <p:sp>
        <p:nvSpPr>
          <p:cNvPr id="14" name="r14"/>
          <p:cNvSpPr/>
          <p:nvPr/>
        </p:nvSpPr>
        <p:spPr>
          <a:xfrm>
            <a:off x="2892400" y="3827738"/>
            <a:ext cx="2062400" cy="1980262"/>
          </a:xfrm>
          <a:prstGeom prst="roundRect">
            <a:avLst>
              <a:gd name="adj" fmla="val 6000"/>
            </a:avLst>
          </a:prstGeom>
          <a:solidFill>
            <a:srgbClr val="1F6FEB">
              <a:alpha val="92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val1"/>
          <p:cNvSpPr txBox="1"/>
          <p:nvPr/>
        </p:nvSpPr>
        <p:spPr>
          <a:xfrm>
            <a:off x="2892400" y="3567738"/>
            <a:ext cx="2062400" cy="2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b="1" dirty="0">
                <a:solidFill>
                  <a:srgbClr val="1B1F24"/>
                </a:solidFill>
                <a:latin typeface="Segoe UI"/>
                <a:ea typeface="微软雅黑"/>
              </a:rPr>
              <a:t>101</a:t>
            </a:r>
          </a:p>
        </p:txBody>
      </p:sp>
      <p:sp>
        <p:nvSpPr>
          <p:cNvPr id="16" name="lbl1"/>
          <p:cNvSpPr txBox="1"/>
          <p:nvPr/>
        </p:nvSpPr>
        <p:spPr>
          <a:xfrm>
            <a:off x="2852400" y="5848000"/>
            <a:ext cx="2142400" cy="4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000" dirty="0">
                <a:solidFill>
                  <a:srgbClr val="6B7280"/>
                </a:solidFill>
                <a:latin typeface="Segoe UI"/>
                <a:ea typeface="微软雅黑"/>
              </a:rPr>
              <a:t>DAC领域图谱</a:t>
            </a:r>
          </a:p>
        </p:txBody>
      </p:sp>
      <p:sp>
        <p:nvSpPr>
          <p:cNvPr id="17" name="r17"/>
          <p:cNvSpPr/>
          <p:nvPr/>
        </p:nvSpPr>
        <p:spPr>
          <a:xfrm>
            <a:off x="5064800" y="5004132"/>
            <a:ext cx="2062400" cy="803868"/>
          </a:xfrm>
          <a:prstGeom prst="roundRect">
            <a:avLst>
              <a:gd name="adj" fmla="val 6000"/>
            </a:avLst>
          </a:prstGeom>
          <a:solidFill>
            <a:srgbClr val="1F6FEB">
              <a:alpha val="92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val2"/>
          <p:cNvSpPr txBox="1"/>
          <p:nvPr/>
        </p:nvSpPr>
        <p:spPr>
          <a:xfrm>
            <a:off x="5064800" y="4744132"/>
            <a:ext cx="2062400" cy="2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b="1" dirty="0">
                <a:solidFill>
                  <a:srgbClr val="1B1F24"/>
                </a:solidFill>
                <a:latin typeface="Segoe UI"/>
                <a:ea typeface="微软雅黑"/>
              </a:rPr>
              <a:t>41</a:t>
            </a:r>
          </a:p>
        </p:txBody>
      </p:sp>
      <p:sp>
        <p:nvSpPr>
          <p:cNvPr id="19" name="lbl2"/>
          <p:cNvSpPr txBox="1"/>
          <p:nvPr/>
        </p:nvSpPr>
        <p:spPr>
          <a:xfrm>
            <a:off x="5024800" y="5848000"/>
            <a:ext cx="2142400" cy="4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000" dirty="0">
                <a:solidFill>
                  <a:srgbClr val="6B7280"/>
                </a:solidFill>
                <a:latin typeface="Segoe UI"/>
                <a:ea typeface="微软雅黑"/>
              </a:rPr>
              <a:t>DAC任务数</a:t>
            </a:r>
          </a:p>
        </p:txBody>
      </p:sp>
      <p:sp>
        <p:nvSpPr>
          <p:cNvPr id="20" name="r20"/>
          <p:cNvSpPr/>
          <p:nvPr/>
        </p:nvSpPr>
        <p:spPr>
          <a:xfrm>
            <a:off x="7237200" y="5513902"/>
            <a:ext cx="2062400" cy="294098"/>
          </a:xfrm>
          <a:prstGeom prst="roundRect">
            <a:avLst>
              <a:gd name="adj" fmla="val 6000"/>
            </a:avLst>
          </a:prstGeom>
          <a:solidFill>
            <a:srgbClr val="1F6FEB">
              <a:alpha val="92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val3"/>
          <p:cNvSpPr txBox="1"/>
          <p:nvPr/>
        </p:nvSpPr>
        <p:spPr>
          <a:xfrm>
            <a:off x="7237200" y="5253902"/>
            <a:ext cx="2062400" cy="2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b="1" dirty="0">
                <a:solidFill>
                  <a:srgbClr val="1B1F24"/>
                </a:solidFill>
                <a:latin typeface="Segoe UI"/>
                <a:ea typeface="微软雅黑"/>
              </a:rPr>
              <a:t>15</a:t>
            </a:r>
          </a:p>
        </p:txBody>
      </p:sp>
      <p:sp>
        <p:nvSpPr>
          <p:cNvPr id="22" name="lbl3"/>
          <p:cNvSpPr txBox="1"/>
          <p:nvPr/>
        </p:nvSpPr>
        <p:spPr>
          <a:xfrm>
            <a:off x="7197200" y="5848000"/>
            <a:ext cx="2142400" cy="4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000" dirty="0">
                <a:solidFill>
                  <a:srgbClr val="6B7280"/>
                </a:solidFill>
                <a:latin typeface="Segoe UI"/>
                <a:ea typeface="微软雅黑"/>
              </a:rPr>
              <a:t>跨课程依赖边</a:t>
            </a:r>
          </a:p>
        </p:txBody>
      </p:sp>
      <p:sp>
        <p:nvSpPr>
          <p:cNvPr id="23" name="r23"/>
          <p:cNvSpPr/>
          <p:nvPr/>
        </p:nvSpPr>
        <p:spPr>
          <a:xfrm>
            <a:off x="9409600" y="5376656"/>
            <a:ext cx="2062400" cy="431344"/>
          </a:xfrm>
          <a:prstGeom prst="roundRect">
            <a:avLst>
              <a:gd name="adj" fmla="val 6000"/>
            </a:avLst>
          </a:prstGeom>
          <a:solidFill>
            <a:srgbClr val="1F6FEB">
              <a:alpha val="92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val4"/>
          <p:cNvSpPr txBox="1"/>
          <p:nvPr/>
        </p:nvSpPr>
        <p:spPr>
          <a:xfrm>
            <a:off x="9409600" y="5116656"/>
            <a:ext cx="2062400" cy="2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b="1" dirty="0">
                <a:solidFill>
                  <a:srgbClr val="1B1F24"/>
                </a:solidFill>
                <a:latin typeface="Segoe UI"/>
                <a:ea typeface="微软雅黑"/>
              </a:rPr>
              <a:t>22</a:t>
            </a:r>
          </a:p>
        </p:txBody>
      </p:sp>
      <p:sp>
        <p:nvSpPr>
          <p:cNvPr id="25" name="lbl4"/>
          <p:cNvSpPr txBox="1"/>
          <p:nvPr/>
        </p:nvSpPr>
        <p:spPr>
          <a:xfrm>
            <a:off x="9369600" y="5848000"/>
            <a:ext cx="2142400" cy="4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000" dirty="0">
                <a:solidFill>
                  <a:srgbClr val="6B7280"/>
                </a:solidFill>
                <a:latin typeface="Segoe UI"/>
                <a:ea typeface="微软雅黑"/>
              </a:rPr>
              <a:t>拉取课程点</a:t>
            </a:r>
          </a:p>
        </p:txBody>
      </p:sp>
      <p:sp>
        <p:nvSpPr>
          <p:cNvPr id="26" name="note"/>
          <p:cNvSpPr txBox="1"/>
          <p:nvPr/>
        </p:nvSpPr>
        <p:spPr>
          <a:xfrm>
            <a:off x="720000" y="6378000"/>
            <a:ext cx="10752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跨课程边是这一步的要害：DAC-05-10「标定曲线拟合」的前置是 ML-05-01「线性回归模型形式」。学生在光路关卡撞上拟合时，系统沿这条边把线性回归拉过来——他不需要先修完机器学习。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7 / 16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第三步：AI 把知识点匹配出来——只提候选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这是唯一让大模型上场的地方，而它连投票权都没有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2000000"/>
        </p:xfrm>
        <a:graphic>
          <a:graphicData uri="http://schemas.openxmlformats.org/drawingml/2006/table">
            <a:tbl>
              <a:tblPr firstRow="1"/>
              <a:tblGrid>
                <a:gridCol w="2921739"/>
                <a:gridCol w="2571130"/>
                <a:gridCol w="5259130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环节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谁来做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为什么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算「这个任务像哪些知识点」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确定性检索（可复算）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换模型、断网，候选与分数一个字不变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沿依赖边补出前置知识点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知识图谱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字面提不到「无泄漏切分」，但它就是训练模型前必须会的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写一句「为什么可能相关」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大模型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只影响教师读起来省不省力，不影响是哪几条候选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决定算不算数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教师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映射是学分认定依据，必须有人负责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3960000"/>
            <a:ext cx="10752000" cy="20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实测：Top-6 召回率 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64.3%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，Top-1 命中 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65.9%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（拿导师已标注的 154 条映射当标准答案自测）。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b="1" dirty="0">
                <a:solidFill>
                  <a:srgbClr val="4A5561"/>
                </a:solidFill>
                <a:latin typeface="Segoe UI"/>
                <a:ea typeface="微软雅黑"/>
              </a:rPr>
              <a:t>召回率不是 100% 是正常的</a:t>
            </a: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，也不打算追到 100%——导师会标进一些字面完全不相关、但工程上确实需要的知识点，那部分机器替代不了。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沿依赖边扩展这一招把召回率从 47.4% 提到 64.3%，每个任务只多两条候选。这正是知识图谱的本职：回答「要做这个，还缺什么」。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8 / 16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这里有一条红线，请各位替我们盯住</a:t>
            </a:r>
          </a:p>
        </p:txBody>
      </p:sp>
      <p:sp>
        <p:nvSpPr>
          <p:cNvPr id="10" name="r10"/>
          <p:cNvSpPr/>
          <p:nvPr/>
        </p:nvSpPr>
        <p:spPr>
          <a:xfrm>
            <a:off x="720000" y="1400000"/>
            <a:ext cx="10752000" cy="1100000"/>
          </a:xfrm>
          <a:prstGeom prst="roundRect">
            <a:avLst>
              <a:gd name="adj" fmla="val 6000"/>
            </a:avLst>
          </a:prstGeom>
          <a:solidFill>
            <a:srgbClr val="1F6FEB">
              <a:alpha val="12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q"/>
          <p:cNvSpPr txBox="1"/>
          <p:nvPr/>
        </p:nvSpPr>
        <p:spPr>
          <a:xfrm>
            <a:off x="1020000" y="1580000"/>
            <a:ext cx="10152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200" b="1" dirty="0">
                <a:solidFill>
                  <a:srgbClr val="1F6FEB"/>
                </a:solidFill>
                <a:latin typeface="Segoe UI"/>
                <a:ea typeface="微软雅黑"/>
              </a:rPr>
              <a:t>候选不是事实。教师采纳之前，它不进入任何计算。</a:t>
            </a:r>
          </a:p>
        </p:txBody>
      </p:sp>
      <p:graphicFrame>
        <p:nvGraphicFramePr>
          <p:cNvPr id="12" name="t12"/>
          <p:cNvGraphicFramePr/>
          <p:nvPr/>
        </p:nvGraphicFramePr>
        <p:xfrm>
          <a:off x="720000" y="2750000"/>
          <a:ext cx="10752000" cy="2400000"/>
        </p:xfrm>
        <a:graphic>
          <a:graphicData uri="http://schemas.openxmlformats.org/drawingml/2006/table">
            <a:tbl>
              <a:tblPr firstRow="1"/>
              <a:tblGrid>
                <a:gridCol w="2804869"/>
                <a:gridCol w="3739826"/>
                <a:gridCol w="4207304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/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模型提的候选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教师采纳后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存在哪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待审队列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正式映射表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署名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matcher（算法版本）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teacher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影响缺口计算吗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不影响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影响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影响学分认定吗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不影响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影响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否决之后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记住，下次不再提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—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body"/>
          <p:cNvSpPr txBox="1"/>
          <p:nvPr/>
        </p:nvSpPr>
        <p:spPr>
          <a:xfrm>
            <a:off x="720000" y="5410000"/>
            <a:ext cx="10752000" cy="64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当前 DAC 项目待审 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188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 条。整张候选表删掉，拉取式调度照常工作——只是各位要手工标注而已。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这条红线是用测试固化的，不是靠自觉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：架构自检里有一条专门检查匹配模块不得直接写入正式映射表，违反则构建失败。</a:t>
            </a:r>
          </a:p>
        </p:txBody>
      </p:sp>
      <p:sp>
        <p:nvSpPr>
          <p:cNvPr id="14" name="r14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同一条规矩也用在模型出的题上：origin=llm 的题一律 teacher_verified=0，教师确认前不得发给学生。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9 / 16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第四步：让项目痕迹自动变成能力证据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五类标准信号——新项目接入不改核心代码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2400000"/>
        </p:xfrm>
        <a:graphic>
          <a:graphicData uri="http://schemas.openxmlformats.org/drawingml/2006/table">
            <a:tbl>
              <a:tblPr firstRow="1"/>
              <a:tblGrid>
                <a:gridCol w="2220521"/>
                <a:gridCol w="4207304"/>
                <a:gridCol w="4324173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信号类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从 DAC 仓库读到的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能说明什么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code_commit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提交次数、单次变更行数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投入与工作粒度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build_test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改动是否带上测试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工程质量意识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doc_delivery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文档类提交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技术表达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collaboration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被评审接受的合并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协作与被认可度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runtime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软件在环跑批完成率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系统真的跑通了没有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4360000"/>
            <a:ext cx="10752000" cy="16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当前从项目真实 git 仓库读到 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15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 条信号，每条可回溯到具体 commit。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作者映射由导师维护，系统不猜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：git 里只有邮箱，映射不到学号的作者直接跳过——宁可少记，也不能把工作量记到别人头上。机器人提交一律忽略。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接入这个项目，核心代码改动 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0 行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：新写一个适配器而已（现有 4 个）。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五类信号 → M1–M8 能力模块的权重写在配置里，待各位标定。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10 / 16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6000"/>
            </a:avLst>
          </a:prstGeom>
          <a:solidFill>
            <a:srgbClr val="F7F9FC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3"/>
          <p:cNvSpPr/>
          <p:nvPr/>
        </p:nvSpPr>
        <p:spPr>
          <a:xfrm>
            <a:off x="720000" y="2500000"/>
            <a:ext cx="180000" cy="90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"/>
          <p:cNvSpPr txBox="1"/>
          <p:nvPr/>
        </p:nvSpPr>
        <p:spPr>
          <a:xfrm>
            <a:off x="1100000" y="2500000"/>
            <a:ext cx="10752000" cy="10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3600" b="1" dirty="0">
                <a:solidFill>
                  <a:srgbClr val="1B1F24"/>
                </a:solidFill>
                <a:latin typeface="Segoe UI"/>
                <a:ea typeface="微软雅黑"/>
              </a:rPr>
              <a:t>跑起来是什么样</a:t>
            </a:r>
          </a:p>
        </p:txBody>
      </p:sp>
      <p:sp>
        <p:nvSpPr>
          <p:cNvPr id="5" name="s"/>
          <p:cNvSpPr txBox="1"/>
          <p:nvPr/>
        </p:nvSpPr>
        <p:spPr>
          <a:xfrm>
            <a:off x="1100000" y="3550000"/>
            <a:ext cx="10372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900" dirty="0">
                <a:solidFill>
                  <a:srgbClr val="6B7280"/>
                </a:solidFill>
                <a:latin typeface="Segoe UI"/>
                <a:ea typeface="微软雅黑"/>
              </a:rPr>
              <a:t>下面三页都是系统里的真实输出，可当场复现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学生侧：他做到「训练基线分类模型」这一步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系统真实输出（make gap STUDENT=1 TASK=T-DAC-4-5）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1600000"/>
        </p:xfrm>
        <a:graphic>
          <a:graphicData uri="http://schemas.openxmlformats.org/drawingml/2006/table">
            <a:tbl>
              <a:tblPr firstRow="1"/>
              <a:tblGrid>
                <a:gridCol w="4674782"/>
                <a:gridCol w="1753043"/>
                <a:gridCol w="1753043"/>
                <a:gridCol w="2571130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该任务所需知识点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掌握度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挡路度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系统的决定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手写一个两层网络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0.554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6.5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推</a:t>
                      </a: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（最挡路）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预训练与微调范式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0.000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2.0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推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学习率的作用与调度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0.210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0.5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先不推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3560000"/>
            <a:ext cx="10752000" cy="24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这三个知识点全部来自机器学习课程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，被一个光学检测项目的任务拉了过来。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一次只推最挡路的 1–2 个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，不是把缺的全倒给他——挡路度按「卡住多少后续任务」算，不是按难度。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系统同时标注了「置信度 0.0，证据 2 条，数据不足仅供参考」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——证据不够就明说，这一条比推得准更重要。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这就是「拉取」的具体形态：不是先学半年螺丝刀再拆引擎。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12 / 16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教师侧：日常就三件事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都是「审」，不是「填」</a:t>
            </a:r>
          </a:p>
        </p:txBody>
      </p:sp>
      <p:sp>
        <p:nvSpPr>
          <p:cNvPr id="10" name="r10"/>
          <p:cNvSpPr/>
          <p:nvPr/>
        </p:nvSpPr>
        <p:spPr>
          <a:xfrm>
            <a:off x="720000" y="1700000"/>
            <a:ext cx="3410666" cy="1620000"/>
          </a:xfrm>
          <a:prstGeom prst="roundRect">
            <a:avLst>
              <a:gd name="adj" fmla="val 6000"/>
            </a:avLst>
          </a:prstGeom>
          <a:solidFill>
            <a:srgbClr val="1A7F37">
              <a:alpha val="9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c0"/>
          <p:cNvSpPr txBox="1"/>
          <p:nvPr/>
        </p:nvSpPr>
        <p:spPr>
          <a:xfrm>
            <a:off x="920000" y="1850000"/>
            <a:ext cx="3010666" cy="1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b="1" dirty="0">
                <a:solidFill>
                  <a:srgbClr val="1A7F37"/>
                </a:solidFill>
                <a:latin typeface="Segoe UI"/>
                <a:ea typeface="微软雅黑"/>
              </a:rPr>
              <a:t>① 审候选映射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待审 188 条，按把握程度排序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每条附命中的证据词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采纳 / 否决 / 改成「有帮助」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否决过的不再出现</a:t>
            </a:r>
          </a:p>
        </p:txBody>
      </p:sp>
      <p:sp>
        <p:nvSpPr>
          <p:cNvPr id="12" name="r12"/>
          <p:cNvSpPr/>
          <p:nvPr/>
        </p:nvSpPr>
        <p:spPr>
          <a:xfrm>
            <a:off x="4390666" y="1700000"/>
            <a:ext cx="3410666" cy="1620000"/>
          </a:xfrm>
          <a:prstGeom prst="roundRect">
            <a:avLst>
              <a:gd name="adj" fmla="val 6000"/>
            </a:avLst>
          </a:prstGeom>
          <a:solidFill>
            <a:srgbClr val="1F6FEB">
              <a:alpha val="9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c1"/>
          <p:cNvSpPr txBox="1"/>
          <p:nvPr/>
        </p:nvSpPr>
        <p:spPr>
          <a:xfrm>
            <a:off x="4590666" y="1850000"/>
            <a:ext cx="3010666" cy="1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b="1" dirty="0">
                <a:solidFill>
                  <a:srgbClr val="1F6FEB"/>
                </a:solidFill>
                <a:latin typeface="Segoe UI"/>
                <a:ea typeface="微软雅黑"/>
              </a:rPr>
              <a:t>② 看班级缺口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谁卡在哪一关，卡在哪个知识点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根因回溯：沿依赖边找真正的薄弱点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不是「谁分低」，是「谁被什么挡住」</a:t>
            </a:r>
          </a:p>
        </p:txBody>
      </p:sp>
      <p:sp>
        <p:nvSpPr>
          <p:cNvPr id="14" name="r14"/>
          <p:cNvSpPr/>
          <p:nvPr/>
        </p:nvSpPr>
        <p:spPr>
          <a:xfrm>
            <a:off x="8061332" y="1700000"/>
            <a:ext cx="3410666" cy="1620000"/>
          </a:xfrm>
          <a:prstGeom prst="roundRect">
            <a:avLst>
              <a:gd name="adj" fmla="val 6000"/>
            </a:avLst>
          </a:prstGeom>
          <a:solidFill>
            <a:srgbClr val="B45309">
              <a:alpha val="9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c2"/>
          <p:cNvSpPr txBox="1"/>
          <p:nvPr/>
        </p:nvSpPr>
        <p:spPr>
          <a:xfrm>
            <a:off x="8261332" y="1850000"/>
            <a:ext cx="3010666" cy="1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b="1" dirty="0">
                <a:solidFill>
                  <a:srgbClr val="B45309"/>
                </a:solidFill>
                <a:latin typeface="Segoe UI"/>
                <a:ea typeface="微软雅黑"/>
              </a:rPr>
              <a:t>③ 看项目信号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提交、测试、文档、协作、跑批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每条可回溯到具体 commit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异常才需要看，正常的不打扰</a:t>
            </a:r>
          </a:p>
        </p:txBody>
      </p:sp>
      <p:sp>
        <p:nvSpPr>
          <p:cNvPr id="16" name="body"/>
          <p:cNvSpPr txBox="1"/>
          <p:nvPr/>
        </p:nvSpPr>
        <p:spPr>
          <a:xfrm>
            <a:off x="720000" y="3480000"/>
            <a:ext cx="10752000" cy="257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第一件事是一次性的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，主要发生在项目接入时；后两件是日常。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系统不生成任何针对教师的评价性数据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——不统计谁批得快、谁采纳率高。这一条若失守，再好的工具也推不动。</a:t>
            </a:r>
          </a:p>
        </p:txBody>
      </p:sp>
      <p:sp>
        <p:nvSpPr>
          <p:cNvPr id="17" name="r17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所有输出都是建议，可一键否决；否决本身也被记录，用来改进匹配。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13 / 16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有几件事我们刻意不做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写在架构约束里，用测试固化，不靠自觉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2400000"/>
        </p:xfrm>
        <a:graphic>
          <a:graphicData uri="http://schemas.openxmlformats.org/drawingml/2006/table">
            <a:tbl>
              <a:tblPr firstRow="1"/>
              <a:tblGrid>
                <a:gridCol w="5253818"/>
                <a:gridCol w="5498181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不做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理由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不以当场正确率、做题数、停留时长作为任何优化目标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指标一旦成为目标就会被优化，然后失去意义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不为了体验降低任务难度、不提前给答案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无护栏的 AI 辅助会让学生把思考外包出去，实测独立考试成绩下降约 17%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不让大模型判断「学生是否掌握」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换个上下文判断就变，说不出依据，换一届学生就重来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不向学生展示课程进度百分比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只有知识点掌握度——进度条鼓励的是赶完，不是学会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不生成针对教师的评价性数据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这套系统是给教师用的，不是用来看教师的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4360000"/>
            <a:ext cx="10752000" cy="16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一次做对不算掌握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：达标只是「暂定掌握」，跨时间再次做对才算已验证；掌握度按遗忘曲线衰减，掉到阈值以下要叫回来复检。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区分两种困难：无意义的痛苦（重复抄写、等全班进度）该消灭；有意义的困难（想不出来时的挣扎、间隔重复）必须保留。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14 / 16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现在到哪一步了，还差什么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把话说全，免得各位按「已经能用」来安排学期</a:t>
            </a:r>
          </a:p>
        </p:txBody>
      </p:sp>
      <p:sp>
        <p:nvSpPr>
          <p:cNvPr id="10" name="r10"/>
          <p:cNvSpPr/>
          <p:nvPr/>
        </p:nvSpPr>
        <p:spPr>
          <a:xfrm>
            <a:off x="720000" y="1700000"/>
            <a:ext cx="3410666" cy="2610000"/>
          </a:xfrm>
          <a:prstGeom prst="roundRect">
            <a:avLst>
              <a:gd name="adj" fmla="val 6000"/>
            </a:avLst>
          </a:prstGeom>
          <a:solidFill>
            <a:srgbClr val="1A7F37">
              <a:alpha val="9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c0"/>
          <p:cNvSpPr txBox="1"/>
          <p:nvPr/>
        </p:nvSpPr>
        <p:spPr>
          <a:xfrm>
            <a:off x="920000" y="1850000"/>
            <a:ext cx="3010666" cy="261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b="1" dirty="0">
                <a:solidFill>
                  <a:srgbClr val="1A7F37"/>
                </a:solidFill>
                <a:latin typeface="Segoe UI"/>
                <a:ea typeface="微软雅黑"/>
              </a:rPr>
              <a:t>已经跑通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DAC 项目全量接入：41 任务 / 154 条映射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知识图谱 284 个知识点 / 332 条边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自动匹配、待审队列、教师裁决全链路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真实 git 仓库信号采集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250 个自动化测试全绿</a:t>
            </a:r>
          </a:p>
        </p:txBody>
      </p:sp>
      <p:sp>
        <p:nvSpPr>
          <p:cNvPr id="12" name="r12"/>
          <p:cNvSpPr/>
          <p:nvPr/>
        </p:nvSpPr>
        <p:spPr>
          <a:xfrm>
            <a:off x="4390666" y="1700000"/>
            <a:ext cx="3410666" cy="2610000"/>
          </a:xfrm>
          <a:prstGeom prst="roundRect">
            <a:avLst>
              <a:gd name="adj" fmla="val 6000"/>
            </a:avLst>
          </a:prstGeom>
          <a:solidFill>
            <a:srgbClr val="B45309">
              <a:alpha val="9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c1"/>
          <p:cNvSpPr txBox="1"/>
          <p:nvPr/>
        </p:nvSpPr>
        <p:spPr>
          <a:xfrm>
            <a:off x="4590666" y="1850000"/>
            <a:ext cx="3010666" cy="261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b="1" dirty="0">
                <a:solidFill>
                  <a:srgbClr val="B45309"/>
                </a:solidFill>
                <a:latin typeface="Segoe UI"/>
                <a:ea typeface="微软雅黑"/>
              </a:rPr>
              <a:t>还差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候选质量只有自测数字，</a:t>
            </a:r>
            <a:r>
              <a:rPr lang="zh-CN" altLang="en-US" sz="1200" b="1" dirty="0">
                <a:solidFill>
                  <a:srgbClr val="333333"/>
                </a:solidFill>
                <a:latin typeface="Segoe UI"/>
                <a:ea typeface="微软雅黑"/>
              </a:rPr>
              <a:t>没有教师实审过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作者映射表只有现有仓库成员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五类信号 → 能力模块的权重是拍的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学生尚未真正在系统里做这个项目</a:t>
            </a:r>
          </a:p>
        </p:txBody>
      </p:sp>
      <p:sp>
        <p:nvSpPr>
          <p:cNvPr id="14" name="r14"/>
          <p:cNvSpPr/>
          <p:nvPr/>
        </p:nvSpPr>
        <p:spPr>
          <a:xfrm>
            <a:off x="8061332" y="1700000"/>
            <a:ext cx="3410666" cy="2610000"/>
          </a:xfrm>
          <a:prstGeom prst="roundRect">
            <a:avLst>
              <a:gd name="adj" fmla="val 6000"/>
            </a:avLst>
          </a:prstGeom>
          <a:solidFill>
            <a:srgbClr val="7C3AED">
              <a:alpha val="9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c2"/>
          <p:cNvSpPr txBox="1"/>
          <p:nvPr/>
        </p:nvSpPr>
        <p:spPr>
          <a:xfrm>
            <a:off x="8261332" y="1850000"/>
            <a:ext cx="3010666" cy="261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b="1" dirty="0">
                <a:solidFill>
                  <a:srgbClr val="7C3AED"/>
                </a:solidFill>
                <a:latin typeface="Segoe UI"/>
                <a:ea typeface="微软雅黑"/>
              </a:rPr>
              <a:t>需要各位定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知识点拆到多细算合适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候选的采纳门槛：宁滥勿缺还是反过来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关卡验收由谁签字、几人签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200" dirty="0">
                <a:solidFill>
                  <a:srgbClr val="333333"/>
                </a:solidFill>
                <a:latin typeface="Segoe UI"/>
                <a:ea typeface="微软雅黑"/>
              </a:rPr>
              <a:t>项目产出如何折算学分</a:t>
            </a:r>
          </a:p>
        </p:txBody>
      </p:sp>
      <p:sp>
        <p:nvSpPr>
          <p:cNvPr id="16" name="body"/>
          <p:cNvSpPr txBox="1"/>
          <p:nvPr/>
        </p:nvSpPr>
        <p:spPr>
          <a:xfrm>
            <a:off x="720000" y="4470000"/>
            <a:ext cx="10752000" cy="158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最想请各位现在就做的一件事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：每人审 20 条候选映射。采纳率是判断这套匹配值不值得用的唯一诚实指标——现在这个数字还不存在。</a:t>
            </a:r>
          </a:p>
        </p:txBody>
      </p:sp>
      <p:sp>
        <p:nvSpPr>
          <p:cNvPr id="17" name="r17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自测的召回率只能说明算法没跑偏，说明不了它对教学有没有用。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15 / 16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一句话总结</a:t>
            </a:r>
          </a:p>
        </p:txBody>
      </p:sp>
      <p:sp>
        <p:nvSpPr>
          <p:cNvPr id="10" name="r10"/>
          <p:cNvSpPr/>
          <p:nvPr/>
        </p:nvSpPr>
        <p:spPr>
          <a:xfrm>
            <a:off x="720000" y="1400000"/>
            <a:ext cx="10752000" cy="1100000"/>
          </a:xfrm>
          <a:prstGeom prst="roundRect">
            <a:avLst>
              <a:gd name="adj" fmla="val 6000"/>
            </a:avLst>
          </a:prstGeom>
          <a:solidFill>
            <a:srgbClr val="1F6FEB">
              <a:alpha val="12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q"/>
          <p:cNvSpPr txBox="1"/>
          <p:nvPr/>
        </p:nvSpPr>
        <p:spPr>
          <a:xfrm>
            <a:off x="1020000" y="1580000"/>
            <a:ext cx="10152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200" b="1" dirty="0">
                <a:solidFill>
                  <a:srgbClr val="1F6FEB"/>
                </a:solidFill>
                <a:latin typeface="Segoe UI"/>
                <a:ea typeface="微软雅黑"/>
              </a:rPr>
              <a:t>把项目铺成知识坐标系，让机器做比对，让教师做判断。</a:t>
            </a:r>
          </a:p>
        </p:txBody>
      </p:sp>
      <p:sp>
        <p:nvSpPr>
          <p:cNvPr id="12" name="body"/>
          <p:cNvSpPr txBox="1"/>
          <p:nvPr/>
        </p:nvSpPr>
        <p:spPr>
          <a:xfrm>
            <a:off x="720000" y="2750000"/>
            <a:ext cx="10752000" cy="330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项目制教学的难，不在项目，在管理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——在于让「他做了什么」和「他会了什么」变成同一本账。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这套方法的全部工作量，集中在接入的那一次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：拆任务、建图谱、审候选。之后每一届、每一个新学生都在复用它。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接第 5 个项目和第 10 个项目的成本应当相同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——这是我们给这套架构定的验收标准，DAC-3D 是第 3 个，核心代码改动 0 行。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/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下一步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：请各位审一批候选映射，并给出关卡验收的签字规则。系统已部署，可随时打开。</a:t>
            </a:r>
          </a:p>
        </p:txBody>
      </p:sp>
      <p:sp>
        <p:nvSpPr>
          <p:cNvPr id="13" name="r13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系统地址与账号会后发群；有任何一处觉得不对，请直接否决——否决被记录下来，就是下一版的改进依据。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16 / 16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AIEDU">
  <a:themeElements>
    <a:clrScheme name="AIEDU">
      <a:dk1>
        <a:srgbClr val="1B1F24"/>
      </a:dk1>
      <a:lt1>
        <a:srgbClr val="FFFFFF"/>
      </a:lt1>
      <a:dk2>
        <a:srgbClr val="333333"/>
      </a:dk2>
      <a:lt2>
        <a:srgbClr val="F2F5F9"/>
      </a:lt2>
      <a:accent1>
        <a:srgbClr val="1F6FEB"/>
      </a:accent1>
      <a:accent2>
        <a:srgbClr val="1A7F37"/>
      </a:accent2>
      <a:accent3>
        <a:srgbClr val="BF8700"/>
      </a:accent3>
      <a:accent4>
        <a:srgbClr val="CF222E"/>
      </a:accent4>
      <a:accent5>
        <a:srgbClr val="6B7280"/>
      </a:accent5>
      <a:accent6>
        <a:srgbClr val="8250DF"/>
      </a:accent6>
      <a:hlink>
        <a:srgbClr val="1F6FEB"/>
      </a:hlink>
      <a:folHlink>
        <a:srgbClr val="8250DF"/>
      </a:folHlink>
    </a:clrScheme>
    <a:fontScheme name="AIEDU">
      <a:majorFont>
        <a:latin typeface="Segoe UI"/>
        <a:ea typeface="微软雅黑"/>
        <a:cs typeface=""/>
      </a:majorFont>
      <a:minorFont>
        <a:latin typeface="Segoe UI"/>
        <a:ea typeface="微软雅黑"/>
        <a:cs typeface=""/>
      </a:minorFont>
    </a:fontScheme>
    <a:fmtScheme name="AIEDU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Slides>16</Slides>
</Properties>
</file>

<file path=docProps/core.xml><?xml version="1.0" encoding="utf-8"?>
<cp:coreProperties xmlns:cp="http://schemas.openxmlformats.org/package/2006/metadata/core-properties" xmlns:dc="http://purl.org/dc/elements/1.1/">
  <dc:title>项目制教学的管理方法 · 教师研讨</dc:title>
  <dc:creator>人工智能与交通工程学院</dc:creator>
</cp:coreProperties>
</file>