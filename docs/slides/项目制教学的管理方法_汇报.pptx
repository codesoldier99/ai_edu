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1900000"/>
            <a:ext cx="10752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项目制教学，怎么管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3500000"/>
            <a:ext cx="1075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把真实产业项目变成可判定的教学过程，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而不是「做完项目发个学分」。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/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以 DAC-3D 光学检测系统为例 · 已在系统中跑通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7DAF7"/>
                </a:solidFill>
                <a:latin typeface="Segoe UI"/>
                <a:ea typeface="微软雅黑"/>
              </a:rPr>
              <a:t>院长实验班教师研讨 · 2026 年 8 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720000" y="50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1B1F24"/>
                </a:solidFill>
                <a:latin typeface="Segoe UI"/>
                <a:ea typeface="微软雅黑"/>
              </a:rPr>
              <a:t>先说结论：这次真正解决的是哪一件事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020000"/>
            <a:ext cx="10752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项目制教学卡住的从来不是热情，是两件具体的事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570000"/>
            <a:ext cx="5226000" cy="3500000"/>
          </a:xfrm>
          <a:prstGeom prst="roundRect">
            <a:avLst>
              <a:gd name="adj" fmla="val 6000"/>
            </a:avLst>
          </a:prstGeom>
          <a:solidFill>
            <a:srgbClr val="1A7F37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0"/>
          <p:cNvSpPr txBox="1"/>
          <p:nvPr/>
        </p:nvSpPr>
        <p:spPr>
          <a:xfrm>
            <a:off x="720000" y="1830000"/>
            <a:ext cx="5226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rgbClr val="1A7F37"/>
                </a:solidFill>
                <a:latin typeface="Segoe UI"/>
                <a:ea typeface="微软雅黑"/>
              </a:rPr>
              <a:t>11,644</a:t>
            </a:r>
          </a:p>
        </p:txBody>
      </p:sp>
      <p:sp>
        <p:nvSpPr>
          <p:cNvPr id="12" name="l0"/>
          <p:cNvSpPr txBox="1"/>
          <p:nvPr/>
        </p:nvSpPr>
        <p:spPr>
          <a:xfrm>
            <a:off x="720000" y="3130000"/>
            <a:ext cx="5226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次人工比对，被压到一次审阅</a:t>
            </a:r>
          </a:p>
        </p:txBody>
      </p:sp>
      <p:sp>
        <p:nvSpPr>
          <p:cNvPr id="13" name="t0"/>
          <p:cNvSpPr txBox="1"/>
          <p:nvPr/>
        </p:nvSpPr>
        <p:spPr>
          <a:xfrm>
            <a:off x="920000" y="3650000"/>
            <a:ext cx="48260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41 个任务 × 284 个知识点，逐条比对是这个量级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系统自动提出 188 条候选，附证据与置信度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教师做的是</a:t>
            </a:r>
            <a:r>
              <a:rPr lang="zh-CN" altLang="en-US" sz="1400" b="1" dirty="0">
                <a:solidFill>
                  <a:srgbClr val="4A5561"/>
                </a:solidFill>
                <a:latin typeface="Segoe UI"/>
                <a:ea typeface="微软雅黑"/>
              </a:rPr>
              <a:t>审</a:t>
            </a: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，不是</a:t>
            </a:r>
            <a:r>
              <a:rPr lang="zh-CN" altLang="en-US" sz="1400" b="1" dirty="0">
                <a:solidFill>
                  <a:srgbClr val="4A5561"/>
                </a:solidFill>
                <a:latin typeface="Segoe UI"/>
                <a:ea typeface="微软雅黑"/>
              </a:rPr>
              <a:t>填</a:t>
            </a: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——采纳才算数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这是项目制教学最贵、也最容易半途而废的一道人工门槛</a:t>
            </a:r>
          </a:p>
        </p:txBody>
      </p:sp>
      <p:sp>
        <p:nvSpPr>
          <p:cNvPr id="14" name="r14"/>
          <p:cNvSpPr/>
          <p:nvPr/>
        </p:nvSpPr>
        <p:spPr>
          <a:xfrm>
            <a:off x="6246000" y="1570000"/>
            <a:ext cx="5226000" cy="35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1"/>
          <p:cNvSpPr txBox="1"/>
          <p:nvPr/>
        </p:nvSpPr>
        <p:spPr>
          <a:xfrm>
            <a:off x="6246000" y="1830000"/>
            <a:ext cx="5226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rgbClr val="1F6FEB"/>
                </a:solidFill>
                <a:latin typeface="Segoe UI"/>
                <a:ea typeface="微软雅黑"/>
              </a:rPr>
              <a:t>11 / 28</a:t>
            </a:r>
          </a:p>
        </p:txBody>
      </p:sp>
      <p:sp>
        <p:nvSpPr>
          <p:cNvPr id="16" name="l1"/>
          <p:cNvSpPr txBox="1"/>
          <p:nvPr/>
        </p:nvSpPr>
        <p:spPr>
          <a:xfrm>
            <a:off x="6246000" y="3130000"/>
            <a:ext cx="5226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门培养方案课程，被一个项目铺到</a:t>
            </a:r>
          </a:p>
        </p:txBody>
      </p:sp>
      <p:sp>
        <p:nvSpPr>
          <p:cNvPr id="17" name="t1"/>
          <p:cNvSpPr txBox="1"/>
          <p:nvPr/>
        </p:nvSpPr>
        <p:spPr>
          <a:xfrm>
            <a:off x="6446000" y="3650000"/>
            <a:ext cx="48260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专升本院长实验班培养方案，28 门课 77.5 学分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DAC 一个项目沿依赖边拉取 158 个知识点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从光学标定一路追到线性代数、高等数学、概率论</a:t>
            </a:r>
          </a:p>
          <a:p>
            <a:pPr lvl="0" marL="0" indent="0" algn="ctr">
              <a:lnSpc>
                <a:spcPct val="118000"/>
              </a:lnSpc>
              <a:spcBef>
                <a:spcPts val="300"/>
              </a:spcBef>
              <a:buNone/>
            </a:pPr>
            <a:r>
              <a:rPr lang="zh-CN" altLang="en-US" sz="1400" dirty="0">
                <a:solidFill>
                  <a:srgbClr val="4A5561"/>
                </a:solidFill>
                <a:latin typeface="Segoe UI"/>
                <a:ea typeface="微软雅黑"/>
              </a:rPr>
              <a:t>学生不必先修完这些课再进项目</a:t>
            </a:r>
          </a:p>
        </p:txBody>
      </p:sp>
      <p:sp>
        <p:nvSpPr>
          <p:cNvPr id="18" name="note"/>
          <p:cNvSpPr txBox="1"/>
          <p:nvPr/>
        </p:nvSpPr>
        <p:spPr>
          <a:xfrm>
            <a:off x="720000" y="6078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280"/>
                </a:solidFill>
                <a:latin typeface="Segoe UI"/>
                <a:ea typeface="微软雅黑"/>
              </a:rPr>
              <a:t>左边是省掉的教师工作量，右边是这个项目在培养方案上真实铺开的宽度。两件事靠的是同一样东西：把项目铺成知识坐标系。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项目制教学为什么最后总是退化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不是老师不投入，是有三处断得很具体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2150400"/>
                <a:gridCol w="4778666"/>
                <a:gridCol w="3822933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断在哪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现场表现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后果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项目与课程是两套账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项目做得好不好，与「他学会了什么」是两份材料，对不上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学分只能按印象给，能力追溯无从谈起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任务不可判定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「参与了光路搭建」——参与到什么程度算完成？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验收靠导师印象，换个导师标准就变了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知识给得不是时候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先上完半年理论再进项目，或者进了项目缺什么补什么全靠问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前者学过就忘，后者取决于导师当时在不在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这三条是连着的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：任务不可判定 → 项目产出无法翻译成知识点 → 只好另建一套考试来认定能力 → 两套账。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所以不能只修其中一条。下面这套方法是按这个顺序来的。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这一页不谈技术。如果各位觉得这三条不是真问题，后面就都不成立，请当场打断。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3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先把一个问题的方向掉过来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「一个项目怎么分解到几十门课」——这个问法会把人带进死胡同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2688000"/>
                <a:gridCol w="4398545"/>
                <a:gridCol w="3665454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由谁驱动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分解</a:t>
                      </a: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（细）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 → 任务 → 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项目需求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归集</a:t>
                      </a: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（粗）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 → 课程 → 学分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培养方案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归集</a:t>
                      </a: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（另一条）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 → M1–M8 → 能力画像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能力标准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项目不分解到课程，项目分解到知识点；课程是知识点的归集视图。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方向搞反了，就会去做「给 28 门课各建一张 250 点的图，再做 28×N 的映射」——那是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7,000 个知识点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的标注量，一个学期标不完，标完了大半也没有任何项目拉取过。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这正是多数「知识图谱 + 培养方案」项目死掉的地方。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一个技术前提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：知识点归属必须唯一。「向量与矩阵运算」归线性代数，机器学习只是依赖它——否则同一个点在三门课里各算一次，学分就重复计了。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这一页是后面所有做法的前提。如果各位不同意这个方向，后面就都不成立。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4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唯一的核心判断：图谱是索引，不是课表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知识由项目需求拉取，不由课程顺序推送。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2030933"/>
                <a:gridCol w="3106133"/>
                <a:gridCol w="5614933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传统排课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本方法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依赖边用来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排定教学顺序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回答「要做这个，还缺什么」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图谱本质是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教学顺序表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按需检索的索引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学习起点是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课程第一章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当前卡住的那个任务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学生问的是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这章什么时候考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我为什么现在要学这个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dy"/>
          <p:cNvSpPr txBox="1"/>
          <p:nvPr/>
        </p:nvSpPr>
        <p:spPr>
          <a:xfrm>
            <a:off x="720000" y="5010000"/>
            <a:ext cx="10752000" cy="104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拓扑序仍然保留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，但只用来算「缺口内部谁先谁后」，不用来安排全员进度。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代价要说清楚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：这样做，全班不再有统一进度条，教师看到的是 60 张不同的缺口清单——所以才必须有工具，靠人管不过来。</a:t>
            </a:r>
          </a:p>
        </p:txBody>
      </p:sp>
      <p:sp>
        <p:nvSpPr>
          <p:cNvPr id="14" name="r14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这是整套方法唯一的技术判断。其余都是它的推论。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5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方法：四步，把一个项目接进教学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以 DAC-3D 光学检测系统为例，四步全部已跑通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第一步：把项目拆成可判定的任务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不为教学另编一套——项目本来就要干的活，就是任务节点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3038608"/>
                <a:gridCol w="2804869"/>
                <a:gridCol w="4908521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变成什么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本项目实际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半年实践计划的六道关卡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6 个里程碑任务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软件在环 → 硬件 → 光路 → AI → 触发 → 交付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每关的验收清单（可勾选项）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子任务与完成判据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共 41 个任务，每个都能判「做到/没做到」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关卡之间的先后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任务依赖边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5 条，构成闯关顺序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关键在「可判定」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：不是「理解了触发原理」，而是「画出一张触发时序图，能对着图讲清位置与图像如何对齐」。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前者只能靠印象打分，后者换谁验收结论都一样。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这一步没有 AI 参与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，也不该有——怎么算完成，是教学判断。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任务树直接来自项目仓库里的 dac3d-lab-curriculum.md，不是另写的教案。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第二步：给项目建知识坐标系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400000"/>
            <a:ext cx="107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280"/>
                </a:solidFill>
                <a:latin typeface="Segoe UI"/>
                <a:ea typeface="微软雅黑"/>
              </a:rPr>
              <a:t>领域知识点自成一门图谱，并与既有课程跨课连边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5808000"/>
            <a:ext cx="10752000" cy="6000"/>
          </a:xfrm>
          <a:prstGeom prst="roundRect">
            <a:avLst>
              <a:gd name="adj" fmla="val 6000"/>
            </a:avLst>
          </a:prstGeom>
          <a:solidFill>
            <a:srgbClr val="D5DBE3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720000" y="2220000"/>
            <a:ext cx="2062400" cy="3588000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val0"/>
          <p:cNvSpPr txBox="1"/>
          <p:nvPr/>
        </p:nvSpPr>
        <p:spPr>
          <a:xfrm>
            <a:off x="720000" y="1960000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128</a:t>
            </a:r>
          </a:p>
        </p:txBody>
      </p:sp>
      <p:sp>
        <p:nvSpPr>
          <p:cNvPr id="13" name="lbl0"/>
          <p:cNvSpPr txBox="1"/>
          <p:nvPr/>
        </p:nvSpPr>
        <p:spPr>
          <a:xfrm>
            <a:off x="6800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机器学习</a:t>
            </a:r>
          </a:p>
        </p:txBody>
      </p:sp>
      <p:sp>
        <p:nvSpPr>
          <p:cNvPr id="14" name="r14"/>
          <p:cNvSpPr/>
          <p:nvPr/>
        </p:nvSpPr>
        <p:spPr>
          <a:xfrm>
            <a:off x="2892400" y="4686750"/>
            <a:ext cx="2062400" cy="1121250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val1"/>
          <p:cNvSpPr txBox="1"/>
          <p:nvPr/>
        </p:nvSpPr>
        <p:spPr>
          <a:xfrm>
            <a:off x="2892400" y="4426750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40</a:t>
            </a:r>
          </a:p>
        </p:txBody>
      </p:sp>
      <p:sp>
        <p:nvSpPr>
          <p:cNvPr id="16" name="lbl1"/>
          <p:cNvSpPr txBox="1"/>
          <p:nvPr/>
        </p:nvSpPr>
        <p:spPr>
          <a:xfrm>
            <a:off x="28524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深度学习</a:t>
            </a:r>
          </a:p>
        </p:txBody>
      </p:sp>
      <p:sp>
        <p:nvSpPr>
          <p:cNvPr id="17" name="r17"/>
          <p:cNvSpPr/>
          <p:nvPr/>
        </p:nvSpPr>
        <p:spPr>
          <a:xfrm>
            <a:off x="5064800" y="5387532"/>
            <a:ext cx="2062400" cy="420468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val2"/>
          <p:cNvSpPr txBox="1"/>
          <p:nvPr/>
        </p:nvSpPr>
        <p:spPr>
          <a:xfrm>
            <a:off x="5064800" y="5127532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15</a:t>
            </a:r>
          </a:p>
        </p:txBody>
      </p:sp>
      <p:sp>
        <p:nvSpPr>
          <p:cNvPr id="19" name="lbl2"/>
          <p:cNvSpPr txBox="1"/>
          <p:nvPr/>
        </p:nvSpPr>
        <p:spPr>
          <a:xfrm>
            <a:off x="50248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数学三门</a:t>
            </a:r>
          </a:p>
        </p:txBody>
      </p:sp>
      <p:sp>
        <p:nvSpPr>
          <p:cNvPr id="20" name="r20"/>
          <p:cNvSpPr/>
          <p:nvPr/>
        </p:nvSpPr>
        <p:spPr>
          <a:xfrm>
            <a:off x="7237200" y="2976844"/>
            <a:ext cx="2062400" cy="2831156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val3"/>
          <p:cNvSpPr txBox="1"/>
          <p:nvPr/>
        </p:nvSpPr>
        <p:spPr>
          <a:xfrm>
            <a:off x="7237200" y="2716844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101</a:t>
            </a:r>
          </a:p>
        </p:txBody>
      </p:sp>
      <p:sp>
        <p:nvSpPr>
          <p:cNvPr id="22" name="lbl3"/>
          <p:cNvSpPr txBox="1"/>
          <p:nvPr/>
        </p:nvSpPr>
        <p:spPr>
          <a:xfrm>
            <a:off x="71972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DAC项目域</a:t>
            </a:r>
          </a:p>
        </p:txBody>
      </p:sp>
      <p:sp>
        <p:nvSpPr>
          <p:cNvPr id="23" name="r23"/>
          <p:cNvSpPr/>
          <p:nvPr/>
        </p:nvSpPr>
        <p:spPr>
          <a:xfrm>
            <a:off x="9409600" y="4182188"/>
            <a:ext cx="2062400" cy="1625812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val4"/>
          <p:cNvSpPr txBox="1"/>
          <p:nvPr/>
        </p:nvSpPr>
        <p:spPr>
          <a:xfrm>
            <a:off x="9409600" y="3922188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58</a:t>
            </a:r>
          </a:p>
        </p:txBody>
      </p:sp>
      <p:sp>
        <p:nvSpPr>
          <p:cNvPr id="25" name="lbl4"/>
          <p:cNvSpPr txBox="1"/>
          <p:nvPr/>
        </p:nvSpPr>
        <p:spPr>
          <a:xfrm>
            <a:off x="93696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跨课程边</a:t>
            </a:r>
          </a:p>
        </p:txBody>
      </p:sp>
      <p:sp>
        <p:nvSpPr>
          <p:cNvPr id="26" name="note"/>
          <p:cNvSpPr txBox="1"/>
          <p:nvPr/>
        </p:nvSpPr>
        <p:spPr>
          <a:xfrm>
            <a:off x="720000" y="6378000"/>
            <a:ext cx="10752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跨课程边是这一步的要害，现在有 58 条：DAC-05-10「标定曲线拟合」的前置是 ML-05-01「线性回归」，而线性回归的前置又落在线性代数A 的「向量与矩阵运算」上。学生在光路关卡撞上拟合时，系统沿这条链一路把它们拉过来——他不需要先修完机器学习，更不需要先修完线性代数。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第二步之后马上要做的一件事：把数学还给数学课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挂上真实培养方案，原来的偷懒就藏不住了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3054545"/>
                <a:gridCol w="3176727"/>
                <a:gridCol w="4520727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原来在哪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现在归谁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 第2章 数学基础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线性代数A</a:t>
                      </a: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G18Z21032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向量与矩阵运算、秩与可逆性、特征值、SVD、范数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 第2章 数学基础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高等数学B（上）</a:t>
                      </a: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G18Z21030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导数与偏导数、梯度与方向导数、链式法则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 第2章 数学基础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高等数学B（下）</a:t>
                      </a: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G18Z21031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凸函数与凸优化、拉格朗日乘子法与对偶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 第2章 数学基础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概率论与数理统计A</a:t>
                      </a: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G18Z21033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条件概率、贝叶斯、期望方差、MLE、信息熵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 第10–12章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深度学习</a:t>
                      </a: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G18Z21023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神经网络与反向传播、优化与正则、表示学习（40 个）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为什么非改不可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：学生在 DAC 项目里用到「向量与矩阵运算」，学分该记在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线性代数A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头上。挂在「机器学习第2章」下面，认定时对不上任何一门课。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只改归属，不改知识点代码。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ML-02-01 仍然叫 ML-02-01——这些代码被 2026 级选拔考卷引用着（17 道题，含概念锚题），库里还有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446 条学习事件、335 条掌握态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指向它们。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代码是身份，归属是属性。改属性不动任何证据；改身份要动整条纵向研究基线。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移交后实测：446 条事件、335 条掌握态、17 道题一条不少，全部落到四门真实数学课名下。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第三步：AI 把知识点匹配出来——只提候选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这是唯一让大模型上场的地方，而它连投票权都没有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2921739"/>
                <a:gridCol w="2571130"/>
                <a:gridCol w="525913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谁来做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为什么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算「这个任务像哪些知识点」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确定性检索（可复算）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换模型、断网，候选与分数一个字不变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沿依赖边补出前置知识点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知识图谱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字面提不到「无泄漏切分」，但它就是训练模型前必须会的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写一句「为什么可能相关」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大模型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只影响教师读起来省不省力，不影响是哪几条候选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决定算不算数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映射是学分认定依据，必须有人负责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960000"/>
            <a:ext cx="10752000" cy="20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实测：Top-6 召回率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64.3%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，Top-1 命中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65.9%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（拿导师已标注的 154 条映射当标准答案自测）。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召回率不是 100% 是正常的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，也不打算追到 100%——导师会标进一些字面完全不相关、但工程上确实需要的知识点，那部分机器替代不了。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沿依赖边扩展这一招把召回率从 47.4% 提到 64.3%，每个任务只多两条候选。这正是知识图谱的本职：回答「要做这个，还缺什么」。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这里有一条红线，请各位替我们盯住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候选不是事实。教师采纳之前，它不进入任何计算。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2804869"/>
                <a:gridCol w="3739826"/>
                <a:gridCol w="4207304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模型提的候选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教师采纳后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存在哪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待审队列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正式映射表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署名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matcher（算法版本）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teacher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影响缺口计算吗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不影响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影响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影响学分认定吗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不影响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影响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否决之后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记住，下次不再提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dy"/>
          <p:cNvSpPr txBox="1"/>
          <p:nvPr/>
        </p:nvSpPr>
        <p:spPr>
          <a:xfrm>
            <a:off x="720000" y="5410000"/>
            <a:ext cx="10752000" cy="64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当前 DAC 项目待审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188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条。整张候选表删掉，拉取式调度照常工作——只是各位要手工标注而已。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这条红线是用测试固化的，不是靠自觉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：架构自检里有一条专门检查匹配模块不得直接写入正式映射表，违反则构建失败。</a:t>
            </a:r>
          </a:p>
        </p:txBody>
      </p:sp>
      <p:sp>
        <p:nvSpPr>
          <p:cNvPr id="14" name="r14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同一条规矩也用在模型出的题上：origin=llm 的题一律 teacher_verified=0，教师确认前不得发给学生。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一个项目，在培养方案上铺开成什么样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400000"/>
            <a:ext cx="107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280"/>
                </a:solidFill>
                <a:latin typeface="Segoe UI"/>
                <a:ea typeface="微软雅黑"/>
              </a:rPr>
              <a:t>人工智能（专升本）· 院长实验班　28 门课 / 77.5 学分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5808000"/>
            <a:ext cx="10752000" cy="6000"/>
          </a:xfrm>
          <a:prstGeom prst="roundRect">
            <a:avLst>
              <a:gd name="adj" fmla="val 6000"/>
            </a:avLst>
          </a:prstGeom>
          <a:solidFill>
            <a:srgbClr val="D5DBE3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720000" y="2220000"/>
            <a:ext cx="2062400" cy="3588000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val0"/>
          <p:cNvSpPr txBox="1"/>
          <p:nvPr/>
        </p:nvSpPr>
        <p:spPr>
          <a:xfrm>
            <a:off x="720000" y="1960000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28</a:t>
            </a:r>
          </a:p>
        </p:txBody>
      </p:sp>
      <p:sp>
        <p:nvSpPr>
          <p:cNvPr id="13" name="lbl0"/>
          <p:cNvSpPr txBox="1"/>
          <p:nvPr/>
        </p:nvSpPr>
        <p:spPr>
          <a:xfrm>
            <a:off x="6800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方案课程数</a:t>
            </a:r>
          </a:p>
        </p:txBody>
      </p:sp>
      <p:sp>
        <p:nvSpPr>
          <p:cNvPr id="14" name="r14"/>
          <p:cNvSpPr/>
          <p:nvPr/>
        </p:nvSpPr>
        <p:spPr>
          <a:xfrm>
            <a:off x="2892400" y="4398429"/>
            <a:ext cx="2062400" cy="1409571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val1"/>
          <p:cNvSpPr txBox="1"/>
          <p:nvPr/>
        </p:nvSpPr>
        <p:spPr>
          <a:xfrm>
            <a:off x="2892400" y="4138429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11</a:t>
            </a:r>
          </a:p>
        </p:txBody>
      </p:sp>
      <p:sp>
        <p:nvSpPr>
          <p:cNvPr id="16" name="lbl1"/>
          <p:cNvSpPr txBox="1"/>
          <p:nvPr/>
        </p:nvSpPr>
        <p:spPr>
          <a:xfrm>
            <a:off x="28524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被项目触及</a:t>
            </a:r>
          </a:p>
        </p:txBody>
      </p:sp>
      <p:sp>
        <p:nvSpPr>
          <p:cNvPr id="17" name="r17"/>
          <p:cNvSpPr/>
          <p:nvPr/>
        </p:nvSpPr>
        <p:spPr>
          <a:xfrm>
            <a:off x="5064800" y="5039143"/>
            <a:ext cx="2062400" cy="768857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val2"/>
          <p:cNvSpPr txBox="1"/>
          <p:nvPr/>
        </p:nvSpPr>
        <p:spPr>
          <a:xfrm>
            <a:off x="5064800" y="4779143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6</a:t>
            </a:r>
          </a:p>
        </p:txBody>
      </p:sp>
      <p:sp>
        <p:nvSpPr>
          <p:cNvPr id="19" name="lbl2"/>
          <p:cNvSpPr txBox="1"/>
          <p:nvPr/>
        </p:nvSpPr>
        <p:spPr>
          <a:xfrm>
            <a:off x="50248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已建图谱</a:t>
            </a:r>
          </a:p>
        </p:txBody>
      </p:sp>
      <p:sp>
        <p:nvSpPr>
          <p:cNvPr id="20" name="r20"/>
          <p:cNvSpPr/>
          <p:nvPr/>
        </p:nvSpPr>
        <p:spPr>
          <a:xfrm>
            <a:off x="7237200" y="5039143"/>
            <a:ext cx="2062400" cy="768857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val3"/>
          <p:cNvSpPr txBox="1"/>
          <p:nvPr/>
        </p:nvSpPr>
        <p:spPr>
          <a:xfrm>
            <a:off x="7237200" y="4779143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6</a:t>
            </a:r>
          </a:p>
        </p:txBody>
      </p:sp>
      <p:sp>
        <p:nvSpPr>
          <p:cNvPr id="22" name="lbl3"/>
          <p:cNvSpPr txBox="1"/>
          <p:nvPr/>
        </p:nvSpPr>
        <p:spPr>
          <a:xfrm>
            <a:off x="71972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需要未建</a:t>
            </a:r>
          </a:p>
        </p:txBody>
      </p:sp>
      <p:sp>
        <p:nvSpPr>
          <p:cNvPr id="23" name="r23"/>
          <p:cNvSpPr/>
          <p:nvPr/>
        </p:nvSpPr>
        <p:spPr>
          <a:xfrm>
            <a:off x="9409600" y="4270286"/>
            <a:ext cx="2062400" cy="1537714"/>
          </a:xfrm>
          <a:prstGeom prst="roundRect">
            <a:avLst>
              <a:gd name="adj" fmla="val 6000"/>
            </a:avLst>
          </a:prstGeom>
          <a:solidFill>
            <a:srgbClr val="1F6FEB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val4"/>
          <p:cNvSpPr txBox="1"/>
          <p:nvPr/>
        </p:nvSpPr>
        <p:spPr>
          <a:xfrm>
            <a:off x="9409600" y="4010286"/>
            <a:ext cx="20624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B1F24"/>
                </a:solidFill>
                <a:latin typeface="Segoe UI"/>
                <a:ea typeface="微软雅黑"/>
              </a:rPr>
              <a:t>12</a:t>
            </a:r>
          </a:p>
        </p:txBody>
      </p:sp>
      <p:sp>
        <p:nvSpPr>
          <p:cNvPr id="25" name="lbl4"/>
          <p:cNvSpPr txBox="1"/>
          <p:nvPr/>
        </p:nvSpPr>
        <p:spPr>
          <a:xfrm>
            <a:off x="9369600" y="5848000"/>
            <a:ext cx="21424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6B7280"/>
                </a:solidFill>
                <a:latin typeface="Segoe UI"/>
                <a:ea typeface="微软雅黑"/>
              </a:rPr>
              <a:t>悬空需求</a:t>
            </a:r>
          </a:p>
        </p:txBody>
      </p:sp>
      <p:sp>
        <p:nvSpPr>
          <p:cNvPr id="26" name="note"/>
          <p:cNvSpPr txBox="1"/>
          <p:nvPr/>
        </p:nvSpPr>
        <p:spPr>
          <a:xfrm>
            <a:off x="720000" y="6378000"/>
            <a:ext cx="10752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DAC 一个项目触及 11 门课，其中 6 门一个知识点都还没建。拉取的 158 个知识点里，97 个属于项目专有知识（DMD 结构光、144 孔编号、这台设备的触发时序），任何课程大纲里都没有——</a:t>
            </a:r>
            <a:r>
              <a:rPr lang="zh-CN" altLang="en-US" sz="1100" b="1" dirty="0">
                <a:solidFill>
                  <a:srgbClr val="6B7280"/>
                </a:solidFill>
                <a:latin typeface="Segoe UI"/>
                <a:ea typeface="微软雅黑"/>
              </a:rPr>
              <a:t>它们不折算学分，系统如实显示，不硬凑</a:t>
            </a: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12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创新点：让「下一门课该建什么」由数据回答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拉取式不只用于教学，也用于图谱建设本身。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2321454"/>
                <a:gridCol w="3543272"/>
                <a:gridCol w="1710545"/>
                <a:gridCol w="3176727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知识点代码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归属课程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被几处需要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谁在要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COA-SETUP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计算机组成原理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关卡五 编码器四倍频 / 触发时序图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EPS-CALIB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具身感知与多传感器融合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关卡二 接入相机 / 关卡三 标定采集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PROB-ERR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概率论与数理统计A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关卡三 拟合标定曲线与误差分析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LA-COND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线性代数A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关卡三 拟合标定曲线与误差分析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dy"/>
          <p:cNvSpPr txBox="1"/>
          <p:nvPr/>
        </p:nvSpPr>
        <p:spPr>
          <a:xfrm>
            <a:off x="720000" y="5010000"/>
            <a:ext cx="10752000" cy="104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教师标注任务时，允许引用还不存在的知识点。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这不是笔误，是需求：「这个任务确实要用概率论的测量误差分布，但那门课的图谱我们还没建」。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系统登记下来、按被需求次数排序，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知识点一建出来，需求自动闭合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——队列会自己变短。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当前队列 12 个知识点。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高数不必一开始就建 300 个点，先建被拉取的那几十个，随项目增长。</a:t>
            </a:r>
          </a:p>
        </p:txBody>
      </p:sp>
      <p:sp>
        <p:nvSpPr>
          <p:cNvPr id="14" name="r14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一张只有 30 个点但正是项目要用的高数图谱，比一张 300 个点没人拉的完整图谱有用得多——因为图谱是按需检索的索引，不是教学顺序表。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13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第四步：让项目痕迹自动变成能力证据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五类标准信号——新项目接入不改核心代码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2220521"/>
                <a:gridCol w="4207304"/>
                <a:gridCol w="4324173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信号类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从 DAC 仓库读到的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code_commit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提交次数、单次变更行数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投入与工作粒度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build_test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改动是否带上测试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工程质量意识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doc_delivery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文档类提交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技术表达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collaboration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被评审接受的合并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协作与被认可度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runtime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软件在环跑批完成率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系统真的跑通了没有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当前从项目真实 git 仓库读到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15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条信号，每条可回溯到具体 commit。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作者映射由导师维护，系统不猜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：git 里只有邮箱，映射不到学号的作者直接跳过——宁可少记，也不能把工作量记到别人头上。机器人提交一律忽略。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接入这个项目，核心代码改动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0 行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：新写一个适配器而已（现有 4 个）。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五类信号 → M1–M8 能力模块的权重写在配置里，待各位标定。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14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跑起来是什么样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下面三页都是系统里的真实输出，可当场复现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学生侧：他做到「训练基线分类模型」这一步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系统真实输出（make gap STUDENT=1 TASK=T-DAC-4-5）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4674782"/>
                <a:gridCol w="1753043"/>
                <a:gridCol w="1753043"/>
                <a:gridCol w="257113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该任务所需知识点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掌握度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挡路度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系统的决定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手写一个两层网络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0.554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6.5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推</a:t>
                      </a: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（最挡路）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预训练与微调范式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2.0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学习率的作用与调度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0.210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先不推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这三个知识点全部来自机器学习课程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，被一个光学检测项目的任务拉了过来。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一次只推最挡路的 1–2 个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，不是把缺的全倒给他——挡路度按「卡住多少后续任务」算，不是按难度。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系统同时标注了「置信度 0.0，证据 2 条，数据不足仅供参考」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——证据不够就明说，这一条比推得准更重要。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这就是「拉取」的具体形态：不是先学半年螺丝刀再拆引擎。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16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学分怎么认定：两道闸，拿不准就说判不了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系统真实输出（make program A="coverage 1"）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2810181"/>
                <a:gridCol w="1099636"/>
                <a:gridCol w="1221818"/>
                <a:gridCol w="1344000"/>
                <a:gridCol w="1099636"/>
                <a:gridCol w="3176727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课程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已建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已验证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覆盖度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认定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系统说明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高等数学B（上）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33%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图谱仅建 3 个点，</a:t>
                      </a: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判不了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线性代数A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图谱仅建 5 个点，</a:t>
                      </a: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判不了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概率论与数理统计A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图谱仅建 5 个点，</a:t>
                      </a: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判不了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128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覆盖度未达 25%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深度学习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40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覆盖度未达 25%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第一道闸是图谱建够了没有。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高等数学只建了 3 个点、覆盖 33%，如果就此给 4.5 学分，那是假精度——这属于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判不了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，不是判不合格。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「判不了 ≠ 判错」在这里和判分是同一条规矩：拿不准时给个 ✓，比不给更糟。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第二道闸才是培养方案 §4 的 25% 覆盖度门槛。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分子只算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已验证掌握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（跨时间再次做对），不算当堂做对——学分要进档案。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当前可认定学分：0.0。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这个数字现在难看是对的：项目刚接入、图谱刚起步、学生还没真正在系统里做这个项目。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另有 22 门课图谱尚未建设，无法认定——这不是学生没学，是系统还没建那门课的坐标系。把话说全，免得各位按「已经能用」来安排学期。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教师侧：日常就三件事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都是「审」，不是「填」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3410666" cy="162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20000" y="1850000"/>
            <a:ext cx="3010666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A7F37"/>
                </a:solidFill>
                <a:latin typeface="Segoe UI"/>
                <a:ea typeface="微软雅黑"/>
              </a:rPr>
              <a:t>① 审候选映射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待审 188 条，按把握程度排序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每条附命中的证据词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采纳 / 否决 / 改成「有帮助」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否决过的不再出现</a:t>
            </a:r>
          </a:p>
        </p:txBody>
      </p:sp>
      <p:sp>
        <p:nvSpPr>
          <p:cNvPr id="12" name="r12"/>
          <p:cNvSpPr/>
          <p:nvPr/>
        </p:nvSpPr>
        <p:spPr>
          <a:xfrm>
            <a:off x="4390666" y="1700000"/>
            <a:ext cx="3410666" cy="1620000"/>
          </a:xfrm>
          <a:prstGeom prst="roundRect">
            <a:avLst>
              <a:gd name="adj" fmla="val 6000"/>
            </a:avLst>
          </a:prstGeom>
          <a:solidFill>
            <a:srgbClr val="1F6FEB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4590666" y="1850000"/>
            <a:ext cx="3010666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F6FEB"/>
                </a:solidFill>
                <a:latin typeface="Segoe UI"/>
                <a:ea typeface="微软雅黑"/>
              </a:rPr>
              <a:t>② 看班级缺口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谁卡在哪一关，卡在哪个知识点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根因回溯：沿依赖边找真正的薄弱点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不是「谁分低」，是「谁被什么挡住」</a:t>
            </a:r>
          </a:p>
        </p:txBody>
      </p:sp>
      <p:sp>
        <p:nvSpPr>
          <p:cNvPr id="14" name="r14"/>
          <p:cNvSpPr/>
          <p:nvPr/>
        </p:nvSpPr>
        <p:spPr>
          <a:xfrm>
            <a:off x="8061332" y="1700000"/>
            <a:ext cx="3410666" cy="1620000"/>
          </a:xfrm>
          <a:prstGeom prst="roundRect">
            <a:avLst>
              <a:gd name="adj" fmla="val 6000"/>
            </a:avLst>
          </a:prstGeom>
          <a:solidFill>
            <a:srgbClr val="B45309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"/>
          <p:cNvSpPr txBox="1"/>
          <p:nvPr/>
        </p:nvSpPr>
        <p:spPr>
          <a:xfrm>
            <a:off x="8261332" y="1850000"/>
            <a:ext cx="3010666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B45309"/>
                </a:solidFill>
                <a:latin typeface="Segoe UI"/>
                <a:ea typeface="微软雅黑"/>
              </a:rPr>
              <a:t>③ 看项目信号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提交、测试、文档、协作、跑批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每条可回溯到具体 commit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异常才需要看，正常的不打扰</a:t>
            </a:r>
          </a:p>
        </p:txBody>
      </p:sp>
      <p:sp>
        <p:nvSpPr>
          <p:cNvPr id="16" name="body"/>
          <p:cNvSpPr txBox="1"/>
          <p:nvPr/>
        </p:nvSpPr>
        <p:spPr>
          <a:xfrm>
            <a:off x="720000" y="3480000"/>
            <a:ext cx="10752000" cy="25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第一件事是一次性的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，主要发生在项目接入时；后两件是日常。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系统不生成任何针对教师的评价性数据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——不统计谁批得快、谁采纳率高。这一条若失守，再好的工具也推不动。</a:t>
            </a:r>
          </a:p>
        </p:txBody>
      </p:sp>
      <p:sp>
        <p:nvSpPr>
          <p:cNvPr id="17" name="r17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所有输出都是建议，可一键否决；否决本身也被记录，用来改进匹配。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有几件事我们刻意不做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写在架构约束里，用测试固化，不靠自觉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5253818"/>
                <a:gridCol w="5498181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不做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不以当场正确率、做题数、停留时长作为任何优化目标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指标一旦成为目标就会被优化，然后失去意义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不为了体验降低任务难度、不提前给答案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无护栏的 AI 辅助会让学生把思考外包出去，实测独立考试成绩下降约 17%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不让大模型判断「学生是否掌握」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换个上下文判断就变，说不出依据，换一届学生就重来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不向学生展示课程进度百分比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只有知识点掌握度——进度条鼓励的是赶完，不是学会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不生成针对教师的评价性数据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这套系统是给教师用的，不是用来看教师的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一次做对不算掌握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：达标只是「暂定掌握」，跨时间再次做对才算已验证；掌握度按遗忘曲线衰减，掉到阈值以下要叫回来复检。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区分两种困难：无意义的痛苦（重复抄写、等全班进度）该消灭；有意义的困难（想不出来时的挣扎、间隔重复）必须保留。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现在到哪一步了，还差什么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把话说全，免得各位按「已经能用」来安排学期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20000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A7F37"/>
                </a:solidFill>
                <a:latin typeface="Segoe UI"/>
                <a:ea typeface="微软雅黑"/>
              </a:rPr>
              <a:t>已经跑通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专升本培养方案入库：28 门课 / 77.5 学分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数学从「机器学习第2章」移交给三门真实数学课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DAC 项目触及 11 门课，拉取 158 个知识点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悬空需求队列 + 自动匹配 + 教师裁决全链路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学分认定视图（含「判不了」）</a:t>
            </a:r>
          </a:p>
        </p:txBody>
      </p:sp>
      <p:sp>
        <p:nvSpPr>
          <p:cNvPr id="12" name="r12"/>
          <p:cNvSpPr/>
          <p:nvPr/>
        </p:nvSpPr>
        <p:spPr>
          <a:xfrm>
            <a:off x="4390666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B45309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4590666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B45309"/>
                </a:solidFill>
                <a:latin typeface="Segoe UI"/>
                <a:ea typeface="微软雅黑"/>
              </a:rPr>
              <a:t>还差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6 门被需要的课，图谱一个点没建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候选质量只有自测数字，</a:t>
            </a: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没有教师实审过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五类信号 → 能力模块的权重是拍的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学生尚未真正在系统里做这个项目</a:t>
            </a:r>
          </a:p>
        </p:txBody>
      </p:sp>
      <p:sp>
        <p:nvSpPr>
          <p:cNvPr id="14" name="r14"/>
          <p:cNvSpPr/>
          <p:nvPr/>
        </p:nvSpPr>
        <p:spPr>
          <a:xfrm>
            <a:off x="8061332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7C3AED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"/>
          <p:cNvSpPr txBox="1"/>
          <p:nvPr/>
        </p:nvSpPr>
        <p:spPr>
          <a:xfrm>
            <a:off x="8261332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7C3AED"/>
                </a:solidFill>
                <a:latin typeface="Segoe UI"/>
                <a:ea typeface="微软雅黑"/>
              </a:rPr>
              <a:t>需要各位定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先建哪门课：队列给了顺序，要各位点头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认定门槛：图谱建到多少个点才敢下结论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候选的采纳门槛：宁滥勿缺还是反过来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关卡验收由谁签字、几人签</a:t>
            </a:r>
          </a:p>
        </p:txBody>
      </p:sp>
      <p:sp>
        <p:nvSpPr>
          <p:cNvPr id="16" name="body"/>
          <p:cNvSpPr txBox="1"/>
          <p:nvPr/>
        </p:nvSpPr>
        <p:spPr>
          <a:xfrm>
            <a:off x="720000" y="5130000"/>
            <a:ext cx="10752000" cy="92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最想请各位现在就做的一件事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：每人审 20 条候选映射。采纳率是判断这套匹配值不值得用的唯一诚实指标——现在这个数字还不存在。</a:t>
            </a:r>
          </a:p>
        </p:txBody>
      </p:sp>
      <p:sp>
        <p:nvSpPr>
          <p:cNvPr id="17" name="r17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自测的召回率只能说明算法没跑偏，说明不了它对教学有没有用。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一句话总结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把项目铺成知识坐标系，让机器做比对，让教师做判断。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720000" y="2750000"/>
            <a:ext cx="10752000" cy="33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项目制教学的难，不在项目，在管理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——在于让「他做了什么」和「他会了什么」变成同一本账。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这套方法的全部工作量，集中在接入的那一次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：拆任务、建图谱、审候选。之后每一届、每一个新学生都在复用它。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接第 5 个项目和第 10 个项目的成本应当相同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——这是我们给这套架构定的验收标准，DAC-3D 是第 3 个，核心代码改动 0 行。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/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下一步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：请各位审一批候选映射，并给出关卡验收的签字规则。系统已部署，可随时打开。</a:t>
            </a:r>
          </a:p>
        </p:txBody>
      </p:sp>
      <p:sp>
        <p:nvSpPr>
          <p:cNvPr id="13" name="r13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系统地址与账号会后发群；有任何一处觉得不对，请直接否决——否决被记录下来，就是下一版的改进依据。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IEDU">
  <a:themeElements>
    <a:clrScheme name="AIEDU">
      <a:dk1>
        <a:srgbClr val="1B1F24"/>
      </a:dk1>
      <a:lt1>
        <a:srgbClr val="FFFFFF"/>
      </a:lt1>
      <a:dk2>
        <a:srgbClr val="333333"/>
      </a:dk2>
      <a:lt2>
        <a:srgbClr val="F2F5F9"/>
      </a:lt2>
      <a:accent1>
        <a:srgbClr val="1F6FEB"/>
      </a:accent1>
      <a:accent2>
        <a:srgbClr val="1A7F37"/>
      </a:accent2>
      <a:accent3>
        <a:srgbClr val="BF8700"/>
      </a:accent3>
      <a:accent4>
        <a:srgbClr val="CF222E"/>
      </a:accent4>
      <a:accent5>
        <a:srgbClr val="6B7280"/>
      </a:accent5>
      <a:accent6>
        <a:srgbClr val="8250DF"/>
      </a:accent6>
      <a:hlink>
        <a:srgbClr val="1F6FEB"/>
      </a:hlink>
      <a:folHlink>
        <a:srgbClr val="8250DF"/>
      </a:folHlink>
    </a:clrScheme>
    <a:fontScheme name="AIEDU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AIED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21</Slides>
</Properties>
</file>

<file path=docProps/core.xml><?xml version="1.0" encoding="utf-8"?>
<cp:coreProperties xmlns:cp="http://schemas.openxmlformats.org/package/2006/metadata/core-properties" xmlns:dc="http://purl.org/dc/elements/1.1/">
  <dc:title>项目制教学的管理方法 · 教师研讨</dc:title>
  <dc:creator>人工智能与交通工程学院</dc:creator>
</cp:coreProperties>
</file>